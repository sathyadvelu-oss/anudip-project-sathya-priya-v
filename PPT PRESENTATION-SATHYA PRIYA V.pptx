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udip" initials="A" lastIdx="1" clrIdx="0">
    <p:extLst>
      <p:ext uri="{19B8F6BF-5375-455C-9EA6-DF929625EA0E}">
        <p15:presenceInfo xmlns:p15="http://schemas.microsoft.com/office/powerpoint/2012/main" userId="Anudip"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7" d="100"/>
          <a:sy n="67" d="100"/>
        </p:scale>
        <p:origin x="644"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5E7E2-693B-45F5-BE57-0980821E25C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C6ADB59F-B104-452D-A19A-578958E1B1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147945C-E5DB-496E-A86E-77AF6F88A7FE}"/>
              </a:ext>
            </a:extLst>
          </p:cNvPr>
          <p:cNvSpPr>
            <a:spLocks noGrp="1"/>
          </p:cNvSpPr>
          <p:nvPr>
            <p:ph type="dt" sz="half" idx="10"/>
          </p:nvPr>
        </p:nvSpPr>
        <p:spPr/>
        <p:txBody>
          <a:bodyPr/>
          <a:lstStyle/>
          <a:p>
            <a:fld id="{256F762C-CF9A-405D-B3E8-A5F38C1F8FB3}" type="datetimeFigureOut">
              <a:rPr lang="en-IN" smtClean="0"/>
              <a:t>31-01-2026</a:t>
            </a:fld>
            <a:endParaRPr lang="en-IN"/>
          </a:p>
        </p:txBody>
      </p:sp>
      <p:sp>
        <p:nvSpPr>
          <p:cNvPr id="5" name="Footer Placeholder 4">
            <a:extLst>
              <a:ext uri="{FF2B5EF4-FFF2-40B4-BE49-F238E27FC236}">
                <a16:creationId xmlns:a16="http://schemas.microsoft.com/office/drawing/2014/main" id="{0F3EAA4F-7D7E-43FE-B8EA-DB9D2AECB28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79C8801-4A4C-4808-9018-A6D2225317E6}"/>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2045316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E4F10-DA0D-4742-9220-DFAF3E2F776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0D4D7B0-EB51-4B59-982F-797616C531D1}"/>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3EC142E-CB9D-4D31-A2BA-81E05FB8C2BA}"/>
              </a:ext>
            </a:extLst>
          </p:cNvPr>
          <p:cNvSpPr>
            <a:spLocks noGrp="1"/>
          </p:cNvSpPr>
          <p:nvPr>
            <p:ph type="dt" sz="half" idx="10"/>
          </p:nvPr>
        </p:nvSpPr>
        <p:spPr/>
        <p:txBody>
          <a:bodyPr/>
          <a:lstStyle/>
          <a:p>
            <a:fld id="{256F762C-CF9A-405D-B3E8-A5F38C1F8FB3}" type="datetimeFigureOut">
              <a:rPr lang="en-IN" smtClean="0"/>
              <a:t>31-01-2026</a:t>
            </a:fld>
            <a:endParaRPr lang="en-IN"/>
          </a:p>
        </p:txBody>
      </p:sp>
      <p:sp>
        <p:nvSpPr>
          <p:cNvPr id="5" name="Footer Placeholder 4">
            <a:extLst>
              <a:ext uri="{FF2B5EF4-FFF2-40B4-BE49-F238E27FC236}">
                <a16:creationId xmlns:a16="http://schemas.microsoft.com/office/drawing/2014/main" id="{375EAFFA-F374-4BF6-8887-E1E728CE878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F3548C5-8436-4511-929B-EA08B604F482}"/>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3556320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7744FC-F0A4-4718-A8C1-2902AAB4734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BC241F8-CE7A-4BD2-A5FF-B93D48BCDB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B59DCAA-996F-4A4D-8017-7F368BE05BFE}"/>
              </a:ext>
            </a:extLst>
          </p:cNvPr>
          <p:cNvSpPr>
            <a:spLocks noGrp="1"/>
          </p:cNvSpPr>
          <p:nvPr>
            <p:ph type="dt" sz="half" idx="10"/>
          </p:nvPr>
        </p:nvSpPr>
        <p:spPr/>
        <p:txBody>
          <a:bodyPr/>
          <a:lstStyle/>
          <a:p>
            <a:fld id="{256F762C-CF9A-405D-B3E8-A5F38C1F8FB3}" type="datetimeFigureOut">
              <a:rPr lang="en-IN" smtClean="0"/>
              <a:t>31-01-2026</a:t>
            </a:fld>
            <a:endParaRPr lang="en-IN"/>
          </a:p>
        </p:txBody>
      </p:sp>
      <p:sp>
        <p:nvSpPr>
          <p:cNvPr id="5" name="Footer Placeholder 4">
            <a:extLst>
              <a:ext uri="{FF2B5EF4-FFF2-40B4-BE49-F238E27FC236}">
                <a16:creationId xmlns:a16="http://schemas.microsoft.com/office/drawing/2014/main" id="{CCE30B97-AE3C-49A5-AE0C-A19B19F200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832378A-B2D0-42C5-80D4-D1CAE21D7B0D}"/>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3709503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67BB5-8793-49A7-908A-591F830A3A0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CD68BE4-F264-4D82-8B1F-296135673C86}"/>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1F113C1-5671-42AF-91C4-7699E9850754}"/>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ADE558A-0CD5-4351-A67C-34AC8F8D42E4}"/>
              </a:ext>
            </a:extLst>
          </p:cNvPr>
          <p:cNvSpPr>
            <a:spLocks noGrp="1"/>
          </p:cNvSpPr>
          <p:nvPr>
            <p:ph type="dt" sz="half" idx="10"/>
          </p:nvPr>
        </p:nvSpPr>
        <p:spPr/>
        <p:txBody>
          <a:bodyPr/>
          <a:lstStyle/>
          <a:p>
            <a:fld id="{256F762C-CF9A-405D-B3E8-A5F38C1F8FB3}" type="datetimeFigureOut">
              <a:rPr lang="en-IN" smtClean="0"/>
              <a:t>31-01-2026</a:t>
            </a:fld>
            <a:endParaRPr lang="en-IN"/>
          </a:p>
        </p:txBody>
      </p:sp>
      <p:sp>
        <p:nvSpPr>
          <p:cNvPr id="6" name="Footer Placeholder 5">
            <a:extLst>
              <a:ext uri="{FF2B5EF4-FFF2-40B4-BE49-F238E27FC236}">
                <a16:creationId xmlns:a16="http://schemas.microsoft.com/office/drawing/2014/main" id="{DBB25764-E248-4E5D-9188-A6A1935EDB0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F4D6F7C-497A-4682-93B3-8A628E2DD668}"/>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341619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6F382-DE59-4E2C-BC48-139F4698096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46F646-6272-421E-8514-78A590598A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00E11787-2313-4B91-88F5-98AC7678215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9BF72062-7BBB-4415-92CA-F9A1FBCC24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D93A1D1-138B-4D96-83ED-C5E3D040EF98}"/>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727A6AB-B862-4781-9798-D7FC01614FD8}"/>
              </a:ext>
            </a:extLst>
          </p:cNvPr>
          <p:cNvSpPr>
            <a:spLocks noGrp="1"/>
          </p:cNvSpPr>
          <p:nvPr>
            <p:ph type="dt" sz="half" idx="10"/>
          </p:nvPr>
        </p:nvSpPr>
        <p:spPr/>
        <p:txBody>
          <a:bodyPr/>
          <a:lstStyle/>
          <a:p>
            <a:fld id="{256F762C-CF9A-405D-B3E8-A5F38C1F8FB3}" type="datetimeFigureOut">
              <a:rPr lang="en-IN" smtClean="0"/>
              <a:t>31-01-2026</a:t>
            </a:fld>
            <a:endParaRPr lang="en-IN"/>
          </a:p>
        </p:txBody>
      </p:sp>
      <p:sp>
        <p:nvSpPr>
          <p:cNvPr id="8" name="Footer Placeholder 7">
            <a:extLst>
              <a:ext uri="{FF2B5EF4-FFF2-40B4-BE49-F238E27FC236}">
                <a16:creationId xmlns:a16="http://schemas.microsoft.com/office/drawing/2014/main" id="{359F8DC3-1A42-4303-B4F2-E01D6569899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1D9B72A-FA18-4E52-ADF9-281ACC7B31C1}"/>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4272235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7F979-D957-49E4-AA5F-09EB1DE54AC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8EC775D5-D40B-41E5-A7E7-C537A36316BF}"/>
              </a:ext>
            </a:extLst>
          </p:cNvPr>
          <p:cNvSpPr>
            <a:spLocks noGrp="1"/>
          </p:cNvSpPr>
          <p:nvPr>
            <p:ph type="dt" sz="half" idx="10"/>
          </p:nvPr>
        </p:nvSpPr>
        <p:spPr/>
        <p:txBody>
          <a:bodyPr/>
          <a:lstStyle/>
          <a:p>
            <a:fld id="{256F762C-CF9A-405D-B3E8-A5F38C1F8FB3}" type="datetimeFigureOut">
              <a:rPr lang="en-IN" smtClean="0"/>
              <a:t>31-01-2026</a:t>
            </a:fld>
            <a:endParaRPr lang="en-IN"/>
          </a:p>
        </p:txBody>
      </p:sp>
      <p:sp>
        <p:nvSpPr>
          <p:cNvPr id="4" name="Footer Placeholder 3">
            <a:extLst>
              <a:ext uri="{FF2B5EF4-FFF2-40B4-BE49-F238E27FC236}">
                <a16:creationId xmlns:a16="http://schemas.microsoft.com/office/drawing/2014/main" id="{D4835F01-F857-4DBA-8B63-1C2B7761AF16}"/>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D3C1342D-6B6F-44A5-85E5-DE98F7C289A1}"/>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2360061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2601F50-53F0-427B-9247-47485A5D77F6}"/>
              </a:ext>
            </a:extLst>
          </p:cNvPr>
          <p:cNvSpPr>
            <a:spLocks noGrp="1"/>
          </p:cNvSpPr>
          <p:nvPr>
            <p:ph type="dt" sz="half" idx="10"/>
          </p:nvPr>
        </p:nvSpPr>
        <p:spPr/>
        <p:txBody>
          <a:bodyPr/>
          <a:lstStyle/>
          <a:p>
            <a:fld id="{256F762C-CF9A-405D-B3E8-A5F38C1F8FB3}" type="datetimeFigureOut">
              <a:rPr lang="en-IN" smtClean="0"/>
              <a:t>31-01-2026</a:t>
            </a:fld>
            <a:endParaRPr lang="en-IN"/>
          </a:p>
        </p:txBody>
      </p:sp>
      <p:sp>
        <p:nvSpPr>
          <p:cNvPr id="3" name="Footer Placeholder 2">
            <a:extLst>
              <a:ext uri="{FF2B5EF4-FFF2-40B4-BE49-F238E27FC236}">
                <a16:creationId xmlns:a16="http://schemas.microsoft.com/office/drawing/2014/main" id="{8590292C-1A6F-4BC2-B125-B3B3EEDBC73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FB53F8CC-8DA9-46B5-8B78-15B416660EDE}"/>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5678654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96F0C-B20D-4BE5-9535-B17BEF15AE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C323CCC-B4F5-40ED-900D-9C6311A73F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2DE7C954-B67E-40FB-A0AE-AA06C65347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814FE01-B574-4341-B1BD-E843EE6DAF5D}"/>
              </a:ext>
            </a:extLst>
          </p:cNvPr>
          <p:cNvSpPr>
            <a:spLocks noGrp="1"/>
          </p:cNvSpPr>
          <p:nvPr>
            <p:ph type="dt" sz="half" idx="10"/>
          </p:nvPr>
        </p:nvSpPr>
        <p:spPr/>
        <p:txBody>
          <a:bodyPr/>
          <a:lstStyle/>
          <a:p>
            <a:fld id="{256F762C-CF9A-405D-B3E8-A5F38C1F8FB3}" type="datetimeFigureOut">
              <a:rPr lang="en-IN" smtClean="0"/>
              <a:t>31-01-2026</a:t>
            </a:fld>
            <a:endParaRPr lang="en-IN"/>
          </a:p>
        </p:txBody>
      </p:sp>
      <p:sp>
        <p:nvSpPr>
          <p:cNvPr id="6" name="Footer Placeholder 5">
            <a:extLst>
              <a:ext uri="{FF2B5EF4-FFF2-40B4-BE49-F238E27FC236}">
                <a16:creationId xmlns:a16="http://schemas.microsoft.com/office/drawing/2014/main" id="{78F76953-6059-439D-A58D-31644503729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F5E5B91-0713-4C2E-AD5C-D11EC5874D25}"/>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30310603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14D6D-83F6-47A2-9662-7AC81ECEE5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F3E5801-1DD4-441D-ABBC-D995D334F14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746AD2EE-388E-492F-ADFF-9B322682B4E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5C07114-1627-43F6-B5BA-F2563D8793B6}"/>
              </a:ext>
            </a:extLst>
          </p:cNvPr>
          <p:cNvSpPr>
            <a:spLocks noGrp="1"/>
          </p:cNvSpPr>
          <p:nvPr>
            <p:ph type="dt" sz="half" idx="10"/>
          </p:nvPr>
        </p:nvSpPr>
        <p:spPr/>
        <p:txBody>
          <a:bodyPr/>
          <a:lstStyle/>
          <a:p>
            <a:fld id="{256F762C-CF9A-405D-B3E8-A5F38C1F8FB3}" type="datetimeFigureOut">
              <a:rPr lang="en-IN" smtClean="0"/>
              <a:t>31-01-2026</a:t>
            </a:fld>
            <a:endParaRPr lang="en-IN"/>
          </a:p>
        </p:txBody>
      </p:sp>
      <p:sp>
        <p:nvSpPr>
          <p:cNvPr id="6" name="Footer Placeholder 5">
            <a:extLst>
              <a:ext uri="{FF2B5EF4-FFF2-40B4-BE49-F238E27FC236}">
                <a16:creationId xmlns:a16="http://schemas.microsoft.com/office/drawing/2014/main" id="{CDF38A66-CAB0-4A42-8F77-26A7231E04F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9D3B608-B5B0-47BE-B4C6-A3D2C5B61BD7}"/>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3428028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A5A52-0AB9-4993-9032-40A980DF3DB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D37C76D-B867-4653-9A1E-5AC9E58792BA}"/>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5615B51-61E2-44C4-991C-6E0D06631E3E}"/>
              </a:ext>
            </a:extLst>
          </p:cNvPr>
          <p:cNvSpPr>
            <a:spLocks noGrp="1"/>
          </p:cNvSpPr>
          <p:nvPr>
            <p:ph type="dt" sz="half" idx="10"/>
          </p:nvPr>
        </p:nvSpPr>
        <p:spPr/>
        <p:txBody>
          <a:bodyPr/>
          <a:lstStyle/>
          <a:p>
            <a:fld id="{256F762C-CF9A-405D-B3E8-A5F38C1F8FB3}" type="datetimeFigureOut">
              <a:rPr lang="en-IN" smtClean="0"/>
              <a:t>31-01-2026</a:t>
            </a:fld>
            <a:endParaRPr lang="en-IN"/>
          </a:p>
        </p:txBody>
      </p:sp>
      <p:sp>
        <p:nvSpPr>
          <p:cNvPr id="5" name="Footer Placeholder 4">
            <a:extLst>
              <a:ext uri="{FF2B5EF4-FFF2-40B4-BE49-F238E27FC236}">
                <a16:creationId xmlns:a16="http://schemas.microsoft.com/office/drawing/2014/main" id="{394BC6A4-1492-43CC-816C-84E9C6DC40D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992434E-7214-4370-8656-8B4A8F97898B}"/>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7163864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D3D792-E2F1-4A6F-91C3-AA61B081630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BA73CE6-0770-4A33-B7C3-FF22AE786022}"/>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F50BF8C-6891-4CD2-AA9A-D516AE93467F}"/>
              </a:ext>
            </a:extLst>
          </p:cNvPr>
          <p:cNvSpPr>
            <a:spLocks noGrp="1"/>
          </p:cNvSpPr>
          <p:nvPr>
            <p:ph type="dt" sz="half" idx="10"/>
          </p:nvPr>
        </p:nvSpPr>
        <p:spPr/>
        <p:txBody>
          <a:bodyPr/>
          <a:lstStyle/>
          <a:p>
            <a:fld id="{256F762C-CF9A-405D-B3E8-A5F38C1F8FB3}" type="datetimeFigureOut">
              <a:rPr lang="en-IN" smtClean="0"/>
              <a:t>31-01-2026</a:t>
            </a:fld>
            <a:endParaRPr lang="en-IN"/>
          </a:p>
        </p:txBody>
      </p:sp>
      <p:sp>
        <p:nvSpPr>
          <p:cNvPr id="5" name="Footer Placeholder 4">
            <a:extLst>
              <a:ext uri="{FF2B5EF4-FFF2-40B4-BE49-F238E27FC236}">
                <a16:creationId xmlns:a16="http://schemas.microsoft.com/office/drawing/2014/main" id="{28E1248F-7A30-448C-900B-3C105BACF69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261D230-3310-4628-8C48-D2DE8AFE8B89}"/>
              </a:ext>
            </a:extLst>
          </p:cNvPr>
          <p:cNvSpPr>
            <a:spLocks noGrp="1"/>
          </p:cNvSpPr>
          <p:nvPr>
            <p:ph type="sldNum" sz="quarter" idx="12"/>
          </p:nvPr>
        </p:nvSpPr>
        <p:spPr/>
        <p:txBody>
          <a:bodyPr/>
          <a:lstStyle/>
          <a:p>
            <a:fld id="{94B43792-BBB3-45DE-B816-E06F2A6C2485}" type="slidenum">
              <a:rPr lang="en-IN" smtClean="0"/>
              <a:t>‹#›</a:t>
            </a:fld>
            <a:endParaRPr lang="en-IN"/>
          </a:p>
        </p:txBody>
      </p:sp>
    </p:spTree>
    <p:extLst>
      <p:ext uri="{BB962C8B-B14F-4D97-AF65-F5344CB8AC3E}">
        <p14:creationId xmlns:p14="http://schemas.microsoft.com/office/powerpoint/2010/main" val="1260690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514B348-9E52-40D3-A676-1BDE6435537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505BAB4-1D98-47AE-9971-1D27847EA8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A83A8DF-B5CD-4811-BD26-88B9AB6F6C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6F762C-CF9A-405D-B3E8-A5F38C1F8FB3}" type="datetimeFigureOut">
              <a:rPr lang="en-IN" smtClean="0"/>
              <a:t>31-01-2026</a:t>
            </a:fld>
            <a:endParaRPr lang="en-IN"/>
          </a:p>
        </p:txBody>
      </p:sp>
      <p:sp>
        <p:nvSpPr>
          <p:cNvPr id="5" name="Footer Placeholder 4">
            <a:extLst>
              <a:ext uri="{FF2B5EF4-FFF2-40B4-BE49-F238E27FC236}">
                <a16:creationId xmlns:a16="http://schemas.microsoft.com/office/drawing/2014/main" id="{8221840D-0C23-4AE3-B895-50619BC4070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1800CE74-1932-4FBC-9AF6-106E2BD9AA6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B43792-BBB3-45DE-B816-E06F2A6C2485}" type="slidenum">
              <a:rPr lang="en-IN" smtClean="0"/>
              <a:t>‹#›</a:t>
            </a:fld>
            <a:endParaRPr lang="en-IN"/>
          </a:p>
        </p:txBody>
      </p:sp>
    </p:spTree>
    <p:extLst>
      <p:ext uri="{BB962C8B-B14F-4D97-AF65-F5344CB8AC3E}">
        <p14:creationId xmlns:p14="http://schemas.microsoft.com/office/powerpoint/2010/main" val="5459636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99EF8CA3-8E90-44DC-9E97-391D93C0D6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07710"/>
          </a:xfrm>
          <a:prstGeom prst="rect">
            <a:avLst/>
          </a:prstGeom>
        </p:spPr>
      </p:pic>
      <p:sp>
        <p:nvSpPr>
          <p:cNvPr id="3" name="Subtitle 2">
            <a:extLst>
              <a:ext uri="{FF2B5EF4-FFF2-40B4-BE49-F238E27FC236}">
                <a16:creationId xmlns:a16="http://schemas.microsoft.com/office/drawing/2014/main" id="{88253CE2-17C9-4306-AB2F-37C3AEC89A30}"/>
              </a:ext>
            </a:extLst>
          </p:cNvPr>
          <p:cNvSpPr>
            <a:spLocks noGrp="1"/>
          </p:cNvSpPr>
          <p:nvPr>
            <p:ph type="subTitle" idx="1"/>
          </p:nvPr>
        </p:nvSpPr>
        <p:spPr>
          <a:xfrm>
            <a:off x="7834313" y="5391150"/>
            <a:ext cx="4357687" cy="1152525"/>
          </a:xfrm>
        </p:spPr>
        <p:txBody>
          <a:bodyPr>
            <a:normAutofit fontScale="92500" lnSpcReduction="10000"/>
          </a:bodyPr>
          <a:lstStyle/>
          <a:p>
            <a:r>
              <a:rPr lang="en-US" sz="4100" b="1" dirty="0">
                <a:solidFill>
                  <a:schemeClr val="bg1"/>
                </a:solidFill>
                <a:latin typeface="Times New Roman" panose="02020603050405020304" pitchFamily="18" charset="0"/>
                <a:cs typeface="Times New Roman" panose="02020603050405020304" pitchFamily="18" charset="0"/>
              </a:rPr>
              <a:t>Presented BY :</a:t>
            </a:r>
          </a:p>
          <a:p>
            <a:r>
              <a:rPr lang="en-US" sz="4100" b="1" dirty="0">
                <a:solidFill>
                  <a:schemeClr val="bg1"/>
                </a:solidFill>
                <a:latin typeface="Times New Roman" panose="02020603050405020304" pitchFamily="18" charset="0"/>
                <a:cs typeface="Times New Roman" panose="02020603050405020304" pitchFamily="18" charset="0"/>
              </a:rPr>
              <a:t>Sathya Priya V</a:t>
            </a:r>
          </a:p>
          <a:p>
            <a:endParaRPr lang="en-IN" dirty="0">
              <a:solidFill>
                <a:schemeClr val="bg1"/>
              </a:solidFill>
            </a:endParaRPr>
          </a:p>
        </p:txBody>
      </p:sp>
      <p:sp>
        <p:nvSpPr>
          <p:cNvPr id="21" name="Rectangle 20">
            <a:extLst>
              <a:ext uri="{FF2B5EF4-FFF2-40B4-BE49-F238E27FC236}">
                <a16:creationId xmlns:a16="http://schemas.microsoft.com/office/drawing/2014/main" id="{FB2C482F-B054-4069-8651-E8905ABB8D0C}"/>
              </a:ext>
            </a:extLst>
          </p:cNvPr>
          <p:cNvSpPr/>
          <p:nvPr/>
        </p:nvSpPr>
        <p:spPr>
          <a:xfrm>
            <a:off x="2085975" y="1071000"/>
            <a:ext cx="7429499" cy="1083050"/>
          </a:xfrm>
          <a:prstGeom prst="rect">
            <a:avLst/>
          </a:prstGeom>
        </p:spPr>
        <p:txBody>
          <a:bodyPr wrap="square">
            <a:spAutoFit/>
          </a:bodyPr>
          <a:lstStyle/>
          <a:p>
            <a:pPr algn="ctr"/>
            <a:r>
              <a:rPr lang="en-US" sz="3200" dirty="0">
                <a:latin typeface="Algerian" panose="04020705040A02060702" pitchFamily="82" charset="0"/>
              </a:rPr>
              <a:t>  </a:t>
            </a:r>
            <a:r>
              <a:rPr lang="en-US" sz="3200" dirty="0">
                <a:solidFill>
                  <a:schemeClr val="bg1"/>
                </a:solidFill>
                <a:latin typeface="Algerian" panose="04020705040A02060702" pitchFamily="82" charset="0"/>
              </a:rPr>
              <a:t>HUTSAN EMPLOYEE ATTRITION                                  ANALYSIS REPORT</a:t>
            </a:r>
            <a:endParaRPr lang="en-IN" sz="3200" dirty="0">
              <a:solidFill>
                <a:schemeClr val="bg1"/>
              </a:solidFill>
              <a:latin typeface="Algerian" panose="04020705040A02060702" pitchFamily="82" charset="0"/>
            </a:endParaRPr>
          </a:p>
        </p:txBody>
      </p:sp>
    </p:spTree>
    <p:extLst>
      <p:ext uri="{BB962C8B-B14F-4D97-AF65-F5344CB8AC3E}">
        <p14:creationId xmlns:p14="http://schemas.microsoft.com/office/powerpoint/2010/main" val="4144967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8446E42-35D0-4CF4-9250-9E7F5212A5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9942"/>
            <a:ext cx="12192000" cy="6877942"/>
          </a:xfrm>
          <a:prstGeom prst="rect">
            <a:avLst/>
          </a:prstGeom>
        </p:spPr>
      </p:pic>
      <p:sp>
        <p:nvSpPr>
          <p:cNvPr id="9" name="Rectangle 8">
            <a:extLst>
              <a:ext uri="{FF2B5EF4-FFF2-40B4-BE49-F238E27FC236}">
                <a16:creationId xmlns:a16="http://schemas.microsoft.com/office/drawing/2014/main" id="{EAAC0C9B-F1FE-4678-8834-C22AC276537E}"/>
              </a:ext>
            </a:extLst>
          </p:cNvPr>
          <p:cNvSpPr/>
          <p:nvPr/>
        </p:nvSpPr>
        <p:spPr>
          <a:xfrm>
            <a:off x="3143250" y="361950"/>
            <a:ext cx="3971926" cy="769441"/>
          </a:xfrm>
          <a:prstGeom prst="rect">
            <a:avLst/>
          </a:prstGeom>
        </p:spPr>
        <p:txBody>
          <a:bodyPr wrap="square">
            <a:spAutoFit/>
          </a:bodyPr>
          <a:lstStyle/>
          <a:p>
            <a:pPr algn="ctr"/>
            <a:r>
              <a:rPr lang="en-IN" sz="4400" b="1" dirty="0">
                <a:solidFill>
                  <a:schemeClr val="bg1"/>
                </a:solidFill>
                <a:latin typeface="Algerian" panose="04020705040A02060702" pitchFamily="82" charset="0"/>
                <a:cs typeface="Algerian" panose="04020705040A02060702" charset="0"/>
              </a:rPr>
              <a:t>Agenda</a:t>
            </a:r>
            <a:endParaRPr lang="en-IN" sz="4400" dirty="0">
              <a:solidFill>
                <a:schemeClr val="bg1"/>
              </a:solidFill>
              <a:latin typeface="Algerian" panose="04020705040A02060702" pitchFamily="82" charset="0"/>
            </a:endParaRPr>
          </a:p>
        </p:txBody>
      </p:sp>
      <p:sp>
        <p:nvSpPr>
          <p:cNvPr id="10" name="Rectangle 9">
            <a:extLst>
              <a:ext uri="{FF2B5EF4-FFF2-40B4-BE49-F238E27FC236}">
                <a16:creationId xmlns:a16="http://schemas.microsoft.com/office/drawing/2014/main" id="{9DC859A3-DB79-49C2-8967-D43524F56A0E}"/>
              </a:ext>
            </a:extLst>
          </p:cNvPr>
          <p:cNvSpPr/>
          <p:nvPr/>
        </p:nvSpPr>
        <p:spPr>
          <a:xfrm>
            <a:off x="2619375" y="1513283"/>
            <a:ext cx="7010401" cy="4154984"/>
          </a:xfrm>
          <a:prstGeom prst="rect">
            <a:avLst/>
          </a:prstGeom>
        </p:spPr>
        <p:txBody>
          <a:bodyPr wrap="square">
            <a:spAutoFit/>
          </a:bodyPr>
          <a:lstStyle/>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Introduction</a:t>
            </a: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PROBLEM STATEMENT</a:t>
            </a:r>
            <a:endParaRPr lang="en-IN" sz="2400" dirty="0">
              <a:solidFill>
                <a:schemeClr val="bg1"/>
              </a:solidFill>
              <a:latin typeface="Times New Roman" panose="02020603050405020304" pitchFamily="18" charset="0"/>
              <a:cs typeface="Times New Roman" panose="02020603050405020304" pitchFamily="18" charset="0"/>
            </a:endParaRP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DATASET OVERVIEW</a:t>
            </a:r>
            <a:endParaRPr lang="en-IN" sz="2400" dirty="0">
              <a:solidFill>
                <a:schemeClr val="bg1"/>
              </a:solidFill>
              <a:latin typeface="Times New Roman" panose="02020603050405020304" pitchFamily="18" charset="0"/>
              <a:cs typeface="Times New Roman" panose="02020603050405020304" pitchFamily="18" charset="0"/>
            </a:endParaRP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TECHNOLOGY USED &amp; DATA TRANSFORMATION STEPS </a:t>
            </a: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DATA MODELING</a:t>
            </a: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KPI SUMMARY</a:t>
            </a: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CHARTS USED IN THE DASHBOARD</a:t>
            </a: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TEN PROBLEM STATEMENT QUESTIONS WITH EXPLANATIONS</a:t>
            </a:r>
          </a:p>
          <a:p>
            <a:pPr marL="457200" indent="-457200">
              <a:buFont typeface="+mj-lt"/>
              <a:buAutoNum type="arabicPeriod"/>
            </a:pPr>
            <a:r>
              <a:rPr lang="en-IN" sz="2400" b="1" dirty="0">
                <a:solidFill>
                  <a:schemeClr val="bg1"/>
                </a:solidFill>
                <a:latin typeface="Times New Roman" panose="02020603050405020304" pitchFamily="18" charset="0"/>
                <a:cs typeface="Times New Roman" panose="02020603050405020304" pitchFamily="18" charset="0"/>
              </a:rPr>
              <a:t>CONCLUSION</a:t>
            </a:r>
            <a:endParaRPr lang="en-IN"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078327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369C465-611F-48F2-86CF-8BE6E4C922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8113222"/>
          </a:xfrm>
          <a:prstGeom prst="rect">
            <a:avLst/>
          </a:prstGeom>
        </p:spPr>
      </p:pic>
      <p:sp>
        <p:nvSpPr>
          <p:cNvPr id="6" name="Rectangle 5">
            <a:extLst>
              <a:ext uri="{FF2B5EF4-FFF2-40B4-BE49-F238E27FC236}">
                <a16:creationId xmlns:a16="http://schemas.microsoft.com/office/drawing/2014/main" id="{BBDDF10D-99DD-4DE5-A3BC-D2F5D000D6B5}"/>
              </a:ext>
            </a:extLst>
          </p:cNvPr>
          <p:cNvSpPr/>
          <p:nvPr/>
        </p:nvSpPr>
        <p:spPr>
          <a:xfrm>
            <a:off x="3763141" y="405884"/>
            <a:ext cx="3256020" cy="646331"/>
          </a:xfrm>
          <a:prstGeom prst="rect">
            <a:avLst/>
          </a:prstGeom>
        </p:spPr>
        <p:txBody>
          <a:bodyPr wrap="none">
            <a:spAutoFit/>
          </a:bodyPr>
          <a:lstStyle/>
          <a:p>
            <a:pPr algn="ctr"/>
            <a:r>
              <a:rPr lang="en-IN" sz="3600" b="1" dirty="0">
                <a:solidFill>
                  <a:schemeClr val="bg1"/>
                </a:solidFill>
                <a:latin typeface="Algerian" panose="04020705040A02060702" pitchFamily="82" charset="0"/>
              </a:rPr>
              <a:t>INTRODUCTION</a:t>
            </a:r>
            <a:endParaRPr lang="en-IN" sz="3600" dirty="0">
              <a:solidFill>
                <a:schemeClr val="bg1"/>
              </a:solidFill>
              <a:latin typeface="Algerian" panose="04020705040A02060702" pitchFamily="82" charset="0"/>
            </a:endParaRPr>
          </a:p>
        </p:txBody>
      </p:sp>
      <p:sp>
        <p:nvSpPr>
          <p:cNvPr id="7" name="Rectangle 6">
            <a:extLst>
              <a:ext uri="{FF2B5EF4-FFF2-40B4-BE49-F238E27FC236}">
                <a16:creationId xmlns:a16="http://schemas.microsoft.com/office/drawing/2014/main" id="{3614CB2F-ED90-4B5F-948C-90E6FFE8D917}"/>
              </a:ext>
            </a:extLst>
          </p:cNvPr>
          <p:cNvSpPr/>
          <p:nvPr/>
        </p:nvSpPr>
        <p:spPr>
          <a:xfrm>
            <a:off x="1076324" y="1219199"/>
            <a:ext cx="10125075" cy="4401205"/>
          </a:xfrm>
          <a:prstGeom prst="rect">
            <a:avLst/>
          </a:prstGeom>
        </p:spPr>
        <p:txBody>
          <a:bodyPr wrap="square">
            <a:spAutoFit/>
          </a:bodyPr>
          <a:lstStyle/>
          <a:p>
            <a:r>
              <a:rPr lang="en-US" sz="2800" b="1" dirty="0">
                <a:solidFill>
                  <a:schemeClr val="bg1"/>
                </a:solidFill>
                <a:latin typeface="Times New Roman" panose="02020603050405020304" pitchFamily="18" charset="0"/>
                <a:cs typeface="Times New Roman" panose="02020603050405020304" pitchFamily="18" charset="0"/>
              </a:rPr>
              <a:t>Employee attrition refers to the loss of employees due to resignation, retirement, or termination. High employee attrition can negatively impact an organization by increasing hiring and training costs, reducing productivity, and affecting employee morale. Understanding attrition patterns helps organizations take corrective actions to improve employee retention.</a:t>
            </a:r>
          </a:p>
          <a:p>
            <a:endParaRPr lang="en-US" sz="2800" b="1" dirty="0">
              <a:solidFill>
                <a:schemeClr val="bg1"/>
              </a:solidFill>
              <a:latin typeface="Times New Roman" panose="02020603050405020304" pitchFamily="18" charset="0"/>
              <a:cs typeface="Times New Roman" panose="02020603050405020304" pitchFamily="18" charset="0"/>
            </a:endParaRPr>
          </a:p>
          <a:p>
            <a:r>
              <a:rPr lang="en-US" sz="2800" b="1" dirty="0">
                <a:solidFill>
                  <a:schemeClr val="bg1"/>
                </a:solidFill>
                <a:latin typeface="Times New Roman" panose="02020603050405020304" pitchFamily="18" charset="0"/>
                <a:cs typeface="Times New Roman" panose="02020603050405020304" pitchFamily="18" charset="0"/>
              </a:rPr>
              <a:t>This project focuses on analyzing employee attrition using historical HR data and visualizing insights through a Power BI dashboard</a:t>
            </a:r>
            <a:endParaRPr lang="en-IN" sz="2800" dirty="0">
              <a:solidFill>
                <a:schemeClr val="bg1"/>
              </a:solidFill>
            </a:endParaRPr>
          </a:p>
        </p:txBody>
      </p:sp>
    </p:spTree>
    <p:extLst>
      <p:ext uri="{BB962C8B-B14F-4D97-AF65-F5344CB8AC3E}">
        <p14:creationId xmlns:p14="http://schemas.microsoft.com/office/powerpoint/2010/main" val="7441070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F7D76BB-BED5-49C3-93BF-E2A7CEC090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5240"/>
            <a:ext cx="12192000" cy="6842760"/>
          </a:xfrm>
          <a:prstGeom prst="rect">
            <a:avLst/>
          </a:prstGeom>
        </p:spPr>
      </p:pic>
      <p:sp>
        <p:nvSpPr>
          <p:cNvPr id="2" name="Title 1">
            <a:extLst>
              <a:ext uri="{FF2B5EF4-FFF2-40B4-BE49-F238E27FC236}">
                <a16:creationId xmlns:a16="http://schemas.microsoft.com/office/drawing/2014/main" id="{CA665283-8D57-4270-8100-14B7A052FABB}"/>
              </a:ext>
            </a:extLst>
          </p:cNvPr>
          <p:cNvSpPr>
            <a:spLocks noGrp="1"/>
          </p:cNvSpPr>
          <p:nvPr>
            <p:ph type="title"/>
          </p:nvPr>
        </p:nvSpPr>
        <p:spPr/>
        <p:txBody>
          <a:bodyPr>
            <a:normAutofit fontScale="90000"/>
          </a:bodyPr>
          <a:lstStyle/>
          <a:p>
            <a:pPr algn="ctr"/>
            <a:r>
              <a:rPr lang="en-IN" b="1" dirty="0">
                <a:solidFill>
                  <a:schemeClr val="bg1"/>
                </a:solidFill>
                <a:latin typeface="Algerian" panose="04020705040A02060702" pitchFamily="82" charset="0"/>
                <a:cs typeface="Times New Roman" panose="02020603050405020304" pitchFamily="18" charset="0"/>
              </a:rPr>
              <a:t>				</a:t>
            </a:r>
            <a:br>
              <a:rPr lang="en-IN" b="1" dirty="0">
                <a:solidFill>
                  <a:schemeClr val="bg1"/>
                </a:solidFill>
                <a:latin typeface="Algerian" panose="04020705040A02060702" pitchFamily="82" charset="0"/>
                <a:cs typeface="Times New Roman" panose="02020603050405020304" pitchFamily="18" charset="0"/>
              </a:rPr>
            </a:br>
            <a:r>
              <a:rPr lang="en-IN" b="1" dirty="0">
                <a:solidFill>
                  <a:schemeClr val="bg1"/>
                </a:solidFill>
                <a:latin typeface="Algerian" panose="04020705040A02060702" pitchFamily="82" charset="0"/>
                <a:cs typeface="Times New Roman" panose="02020603050405020304" pitchFamily="18" charset="0"/>
              </a:rPr>
              <a:t>PROBALAM STATEMENT</a:t>
            </a:r>
            <a:br>
              <a:rPr lang="en-IN" b="1" dirty="0">
                <a:solidFill>
                  <a:schemeClr val="bg1"/>
                </a:solidFill>
                <a:latin typeface="Algerian" panose="04020705040A02060702" pitchFamily="82" charset="0"/>
                <a:cs typeface="Times New Roman" panose="02020603050405020304" pitchFamily="18" charset="0"/>
              </a:rPr>
            </a:br>
            <a:endParaRPr lang="en-IN" dirty="0">
              <a:solidFill>
                <a:schemeClr val="bg1"/>
              </a:solidFill>
              <a:latin typeface="Algerian" panose="04020705040A02060702" pitchFamily="82" charset="0"/>
            </a:endParaRPr>
          </a:p>
        </p:txBody>
      </p:sp>
      <p:sp>
        <p:nvSpPr>
          <p:cNvPr id="3" name="Content Placeholder 2">
            <a:extLst>
              <a:ext uri="{FF2B5EF4-FFF2-40B4-BE49-F238E27FC236}">
                <a16:creationId xmlns:a16="http://schemas.microsoft.com/office/drawing/2014/main" id="{E8164F1E-5225-41C5-8917-7DCF158CB4EF}"/>
              </a:ext>
            </a:extLst>
          </p:cNvPr>
          <p:cNvSpPr>
            <a:spLocks noGrp="1"/>
          </p:cNvSpPr>
          <p:nvPr>
            <p:ph idx="1"/>
          </p:nvPr>
        </p:nvSpPr>
        <p:spPr>
          <a:xfrm>
            <a:off x="666750" y="1581150"/>
            <a:ext cx="9715500" cy="4114799"/>
          </a:xfrm>
        </p:spPr>
        <p:txBody>
          <a:bodyPr/>
          <a:lstStyle/>
          <a:p>
            <a:pPr>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 </a:t>
            </a:r>
            <a:r>
              <a:rPr lang="en-IN" b="1" dirty="0">
                <a:solidFill>
                  <a:schemeClr val="bg1"/>
                </a:solidFill>
                <a:latin typeface="Times New Roman" panose="02020603050405020304" pitchFamily="18" charset="0"/>
                <a:cs typeface="Times New Roman" panose="02020603050405020304" pitchFamily="18" charset="0"/>
              </a:rPr>
              <a:t>The organization is facing increasing  employee attrition, especially among certain age groups, job roles, salary ranges, and employees with fewer years of experience. This has resulted in higher recruitment costs, workload imbalance, and reduced operational efficiency. The problem is to identify the key factors causing employee attrition and suggest effective strategies to reduce employee turnover</a:t>
            </a:r>
            <a:endParaRPr lang="en-IN" dirty="0">
              <a:solidFill>
                <a:schemeClr val="bg1"/>
              </a:solidFill>
            </a:endParaRPr>
          </a:p>
        </p:txBody>
      </p:sp>
    </p:spTree>
    <p:extLst>
      <p:ext uri="{BB962C8B-B14F-4D97-AF65-F5344CB8AC3E}">
        <p14:creationId xmlns:p14="http://schemas.microsoft.com/office/powerpoint/2010/main" val="39324432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E136BB8-BE12-43C7-B6EF-6FE77AC0C1A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12338334" cy="6909467"/>
          </a:xfrm>
        </p:spPr>
      </p:pic>
      <p:sp>
        <p:nvSpPr>
          <p:cNvPr id="2" name="Title 1">
            <a:extLst>
              <a:ext uri="{FF2B5EF4-FFF2-40B4-BE49-F238E27FC236}">
                <a16:creationId xmlns:a16="http://schemas.microsoft.com/office/drawing/2014/main" id="{A6368E1F-8214-477D-816A-0B7EFE909E6A}"/>
              </a:ext>
            </a:extLst>
          </p:cNvPr>
          <p:cNvSpPr>
            <a:spLocks noGrp="1"/>
          </p:cNvSpPr>
          <p:nvPr>
            <p:ph type="title"/>
          </p:nvPr>
        </p:nvSpPr>
        <p:spPr>
          <a:xfrm>
            <a:off x="2316304" y="114300"/>
            <a:ext cx="7705725" cy="947738"/>
          </a:xfrm>
        </p:spPr>
        <p:txBody>
          <a:bodyPr>
            <a:normAutofit fontScale="90000"/>
          </a:bodyPr>
          <a:lstStyle/>
          <a:p>
            <a:pPr algn="ctr"/>
            <a:br>
              <a:rPr lang="en-IN" b="1" dirty="0">
                <a:solidFill>
                  <a:schemeClr val="bg1"/>
                </a:solidFill>
                <a:latin typeface="Algerian" panose="04020705040A02060702" pitchFamily="82" charset="0"/>
              </a:rPr>
            </a:br>
            <a:r>
              <a:rPr lang="en-IN" b="1" dirty="0">
                <a:solidFill>
                  <a:schemeClr val="bg1"/>
                </a:solidFill>
                <a:latin typeface="Algerian" panose="04020705040A02060702" pitchFamily="82" charset="0"/>
              </a:rPr>
              <a:t> DATASET OVERVIEW</a:t>
            </a:r>
            <a:br>
              <a:rPr lang="en-IN" dirty="0">
                <a:solidFill>
                  <a:schemeClr val="bg1"/>
                </a:solidFill>
                <a:latin typeface="Algerian" panose="04020705040A02060702" pitchFamily="82" charset="0"/>
              </a:rPr>
            </a:br>
            <a:endParaRPr lang="en-IN" dirty="0">
              <a:solidFill>
                <a:schemeClr val="bg1"/>
              </a:solidFill>
            </a:endParaRPr>
          </a:p>
        </p:txBody>
      </p:sp>
      <p:sp>
        <p:nvSpPr>
          <p:cNvPr id="6" name="Rectangle 5">
            <a:extLst>
              <a:ext uri="{FF2B5EF4-FFF2-40B4-BE49-F238E27FC236}">
                <a16:creationId xmlns:a16="http://schemas.microsoft.com/office/drawing/2014/main" id="{BBBCD67C-F879-45AA-8E2B-6C7DAE3263AE}"/>
              </a:ext>
            </a:extLst>
          </p:cNvPr>
          <p:cNvSpPr/>
          <p:nvPr/>
        </p:nvSpPr>
        <p:spPr>
          <a:xfrm>
            <a:off x="1047749" y="1062038"/>
            <a:ext cx="9839326" cy="4976812"/>
          </a:xfrm>
          <a:prstGeom prst="rect">
            <a:avLst/>
          </a:prstGeom>
        </p:spPr>
        <p:txBody>
          <a:bodyPr wrap="square">
            <a:spAutoFit/>
          </a:bodyPr>
          <a:lstStyle/>
          <a:p>
            <a:pPr marL="342900" indent="-342900">
              <a:buFont typeface="Wingdings" panose="05000000000000000000" pitchFamily="2" charset="2"/>
              <a:buChar char="q"/>
            </a:pPr>
            <a:r>
              <a:rPr lang="en-IN" sz="2000" b="1" dirty="0">
                <a:solidFill>
                  <a:schemeClr val="bg1"/>
                </a:solidFill>
                <a:latin typeface="Times New Roman" panose="02020603050405020304" pitchFamily="18" charset="0"/>
                <a:cs typeface="Times New Roman" panose="02020603050405020304" pitchFamily="18" charset="0"/>
              </a:rPr>
              <a:t>The dataset contains employee-related information including:</a:t>
            </a:r>
          </a:p>
          <a:p>
            <a:endParaRPr lang="en-IN" sz="2000" b="1" dirty="0">
              <a:solidFill>
                <a:schemeClr val="bg1"/>
              </a:solidFill>
              <a:latin typeface="Times New Roman" panose="02020603050405020304" pitchFamily="18" charset="0"/>
              <a:cs typeface="Times New Roman" panose="02020603050405020304" pitchFamily="18" charset="0"/>
            </a:endParaRPr>
          </a:p>
          <a:p>
            <a:pPr lvl="0"/>
            <a:r>
              <a:rPr lang="en-IN" sz="2000" b="1" dirty="0">
                <a:solidFill>
                  <a:schemeClr val="bg1"/>
                </a:solidFill>
                <a:latin typeface="Times New Roman" panose="02020603050405020304" pitchFamily="18" charset="0"/>
                <a:cs typeface="Times New Roman" panose="02020603050405020304" pitchFamily="18" charset="0"/>
              </a:rPr>
              <a:t>     1. Employee ID</a:t>
            </a:r>
          </a:p>
          <a:p>
            <a:pPr lvl="0"/>
            <a:r>
              <a:rPr lang="en-IN" sz="2000" b="1" dirty="0">
                <a:solidFill>
                  <a:schemeClr val="bg1"/>
                </a:solidFill>
                <a:latin typeface="Times New Roman" panose="02020603050405020304" pitchFamily="18" charset="0"/>
                <a:cs typeface="Times New Roman" panose="02020603050405020304" pitchFamily="18" charset="0"/>
              </a:rPr>
              <a:t>     2.Age</a:t>
            </a:r>
          </a:p>
          <a:p>
            <a:pPr lvl="0"/>
            <a:r>
              <a:rPr lang="en-IN" sz="2000" b="1" dirty="0">
                <a:solidFill>
                  <a:schemeClr val="bg1"/>
                </a:solidFill>
                <a:latin typeface="Times New Roman" panose="02020603050405020304" pitchFamily="18" charset="0"/>
                <a:cs typeface="Times New Roman" panose="02020603050405020304" pitchFamily="18" charset="0"/>
              </a:rPr>
              <a:t>     3.Gender</a:t>
            </a:r>
          </a:p>
          <a:p>
            <a:pPr lvl="0"/>
            <a:r>
              <a:rPr lang="en-IN" sz="2000" b="1" dirty="0">
                <a:solidFill>
                  <a:schemeClr val="bg1"/>
                </a:solidFill>
                <a:latin typeface="Times New Roman" panose="02020603050405020304" pitchFamily="18" charset="0"/>
                <a:cs typeface="Times New Roman" panose="02020603050405020304" pitchFamily="18" charset="0"/>
              </a:rPr>
              <a:t>     4.Marital Status</a:t>
            </a:r>
          </a:p>
          <a:p>
            <a:pPr lvl="0"/>
            <a:r>
              <a:rPr lang="en-IN" sz="2000" b="1" dirty="0">
                <a:solidFill>
                  <a:schemeClr val="bg1"/>
                </a:solidFill>
                <a:latin typeface="Times New Roman" panose="02020603050405020304" pitchFamily="18" charset="0"/>
                <a:cs typeface="Times New Roman" panose="02020603050405020304" pitchFamily="18" charset="0"/>
              </a:rPr>
              <a:t>     5.Department</a:t>
            </a:r>
          </a:p>
          <a:p>
            <a:pPr lvl="0"/>
            <a:r>
              <a:rPr lang="en-IN" sz="2000" b="1" dirty="0">
                <a:solidFill>
                  <a:schemeClr val="bg1"/>
                </a:solidFill>
                <a:latin typeface="Times New Roman" panose="02020603050405020304" pitchFamily="18" charset="0"/>
                <a:cs typeface="Times New Roman" panose="02020603050405020304" pitchFamily="18" charset="0"/>
              </a:rPr>
              <a:t>     6.Job Role</a:t>
            </a:r>
          </a:p>
          <a:p>
            <a:pPr lvl="0"/>
            <a:r>
              <a:rPr lang="en-IN" sz="2000" b="1" dirty="0">
                <a:solidFill>
                  <a:schemeClr val="bg1"/>
                </a:solidFill>
                <a:latin typeface="Times New Roman" panose="02020603050405020304" pitchFamily="18" charset="0"/>
                <a:cs typeface="Times New Roman" panose="02020603050405020304" pitchFamily="18" charset="0"/>
              </a:rPr>
              <a:t>     7.Salary Group</a:t>
            </a:r>
          </a:p>
          <a:p>
            <a:pPr lvl="0"/>
            <a:r>
              <a:rPr lang="en-IN" sz="2000" b="1" dirty="0">
                <a:solidFill>
                  <a:schemeClr val="bg1"/>
                </a:solidFill>
                <a:latin typeface="Times New Roman" panose="02020603050405020304" pitchFamily="18" charset="0"/>
                <a:cs typeface="Times New Roman" panose="02020603050405020304" pitchFamily="18" charset="0"/>
              </a:rPr>
              <a:t>     8.Years at Company</a:t>
            </a:r>
          </a:p>
          <a:p>
            <a:pPr lvl="0"/>
            <a:r>
              <a:rPr lang="en-IN" sz="2000" b="1" dirty="0">
                <a:solidFill>
                  <a:schemeClr val="bg1"/>
                </a:solidFill>
                <a:latin typeface="Times New Roman" panose="02020603050405020304" pitchFamily="18" charset="0"/>
                <a:cs typeface="Times New Roman" panose="02020603050405020304" pitchFamily="18" charset="0"/>
              </a:rPr>
              <a:t>     9.Job Satisfaction</a:t>
            </a:r>
          </a:p>
          <a:p>
            <a:pPr lvl="0"/>
            <a:r>
              <a:rPr lang="en-IN" sz="2000" b="1" dirty="0">
                <a:solidFill>
                  <a:schemeClr val="bg1"/>
                </a:solidFill>
                <a:latin typeface="Times New Roman" panose="02020603050405020304" pitchFamily="18" charset="0"/>
                <a:cs typeface="Times New Roman" panose="02020603050405020304" pitchFamily="18" charset="0"/>
              </a:rPr>
              <a:t>    10.Education Field</a:t>
            </a:r>
          </a:p>
          <a:p>
            <a:pPr lvl="0"/>
            <a:r>
              <a:rPr lang="en-IN" sz="2000" b="1" dirty="0">
                <a:solidFill>
                  <a:schemeClr val="bg1"/>
                </a:solidFill>
                <a:latin typeface="Times New Roman" panose="02020603050405020304" pitchFamily="18" charset="0"/>
                <a:cs typeface="Times New Roman" panose="02020603050405020304" pitchFamily="18" charset="0"/>
              </a:rPr>
              <a:t>    11.Attrition Status</a:t>
            </a:r>
          </a:p>
          <a:p>
            <a:pPr lvl="0"/>
            <a:endParaRPr lang="en-IN" sz="2000" b="1" dirty="0">
              <a:solidFill>
                <a:schemeClr val="bg1"/>
              </a:solidFill>
              <a:latin typeface="Times New Roman" panose="02020603050405020304" pitchFamily="18" charset="0"/>
              <a:cs typeface="Times New Roman" panose="02020603050405020304" pitchFamily="18" charset="0"/>
            </a:endParaRPr>
          </a:p>
          <a:p>
            <a:pPr lvl="0"/>
            <a:r>
              <a:rPr lang="en-IN" sz="2000" b="1" dirty="0">
                <a:solidFill>
                  <a:schemeClr val="bg1"/>
                </a:solidFill>
                <a:latin typeface="Times New Roman" panose="02020603050405020304" pitchFamily="18" charset="0"/>
                <a:cs typeface="Times New Roman" panose="02020603050405020304" pitchFamily="18" charset="0"/>
              </a:rPr>
              <a:t>	The data helps in understanding employee demographics and work-related factors influencing attrition</a:t>
            </a:r>
            <a:endParaRPr lang="en-IN" sz="2000" dirty="0">
              <a:solidFill>
                <a:schemeClr val="bg1"/>
              </a:solidFill>
            </a:endParaRPr>
          </a:p>
        </p:txBody>
      </p:sp>
    </p:spTree>
    <p:extLst>
      <p:ext uri="{BB962C8B-B14F-4D97-AF65-F5344CB8AC3E}">
        <p14:creationId xmlns:p14="http://schemas.microsoft.com/office/powerpoint/2010/main" val="12229022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2092D8-37D0-4A65-89C9-C57336997465}"/>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C9CBB590-08DA-4916-A199-51BEF667C3D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 y="1"/>
            <a:ext cx="12192000" cy="6857999"/>
          </a:xfrm>
        </p:spPr>
      </p:pic>
      <p:sp>
        <p:nvSpPr>
          <p:cNvPr id="7" name="Rectangle 6">
            <a:extLst>
              <a:ext uri="{FF2B5EF4-FFF2-40B4-BE49-F238E27FC236}">
                <a16:creationId xmlns:a16="http://schemas.microsoft.com/office/drawing/2014/main" id="{77913E0F-BEB1-4CEB-9A89-E098EC2546C6}"/>
              </a:ext>
            </a:extLst>
          </p:cNvPr>
          <p:cNvSpPr/>
          <p:nvPr/>
        </p:nvSpPr>
        <p:spPr>
          <a:xfrm>
            <a:off x="2614612" y="365125"/>
            <a:ext cx="6962775" cy="830997"/>
          </a:xfrm>
          <a:prstGeom prst="rect">
            <a:avLst/>
          </a:prstGeom>
        </p:spPr>
        <p:txBody>
          <a:bodyPr wrap="square">
            <a:spAutoFit/>
          </a:bodyPr>
          <a:lstStyle/>
          <a:p>
            <a:pPr algn="ctr"/>
            <a:r>
              <a:rPr lang="en-IN" sz="2400" b="1" dirty="0">
                <a:solidFill>
                  <a:schemeClr val="bg1"/>
                </a:solidFill>
                <a:latin typeface="Algerian" panose="04020705040A02060702" pitchFamily="82" charset="0"/>
              </a:rPr>
              <a:t>TECHNOLOGY USED &amp; DATA TRANSFORMATION STEPS</a:t>
            </a:r>
            <a:endParaRPr lang="en-IN" sz="2400" dirty="0">
              <a:solidFill>
                <a:schemeClr val="bg1"/>
              </a:solidFill>
              <a:latin typeface="Algerian" panose="04020705040A02060702" pitchFamily="82" charset="0"/>
            </a:endParaRPr>
          </a:p>
        </p:txBody>
      </p:sp>
      <p:sp>
        <p:nvSpPr>
          <p:cNvPr id="8" name="Rectangle 7">
            <a:extLst>
              <a:ext uri="{FF2B5EF4-FFF2-40B4-BE49-F238E27FC236}">
                <a16:creationId xmlns:a16="http://schemas.microsoft.com/office/drawing/2014/main" id="{4177A78F-3D9C-4B6D-9C8B-EFB21AAB293C}"/>
              </a:ext>
            </a:extLst>
          </p:cNvPr>
          <p:cNvSpPr/>
          <p:nvPr/>
        </p:nvSpPr>
        <p:spPr>
          <a:xfrm>
            <a:off x="1266825" y="1561247"/>
            <a:ext cx="8429625" cy="4216539"/>
          </a:xfrm>
          <a:prstGeom prst="rect">
            <a:avLst/>
          </a:prstGeom>
        </p:spPr>
        <p:txBody>
          <a:bodyPr wrap="square">
            <a:spAutoFit/>
          </a:bodyPr>
          <a:lstStyle/>
          <a:p>
            <a:pPr>
              <a:buFont typeface="Wingdings" panose="05000000000000000000" pitchFamily="2" charset="2"/>
              <a:buChar char="Ø"/>
            </a:pPr>
            <a:r>
              <a:rPr lang="en-US" sz="2000" b="1" dirty="0">
                <a:solidFill>
                  <a:schemeClr val="bg1"/>
                </a:solidFill>
                <a:latin typeface="Times New Roman" panose="02020603050405020304" pitchFamily="18" charset="0"/>
                <a:cs typeface="Times New Roman" panose="02020603050405020304" pitchFamily="18" charset="0"/>
              </a:rPr>
              <a:t>Technology Used</a:t>
            </a:r>
          </a:p>
          <a:p>
            <a:endParaRPr lang="en-US" sz="2000" b="1" dirty="0">
              <a:solidFill>
                <a:schemeClr val="bg1"/>
              </a:solidFill>
              <a:latin typeface="Times New Roman" panose="02020603050405020304" pitchFamily="18" charset="0"/>
              <a:cs typeface="Times New Roman" panose="02020603050405020304" pitchFamily="18" charset="0"/>
            </a:endParaRP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Power BI – Dashboard creation and data visualization</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Microsoft Excel – Data cleaning and preprocessing</a:t>
            </a:r>
          </a:p>
          <a:p>
            <a:pPr lvl="0"/>
            <a:endParaRPr lang="en-US" sz="2000" b="1" dirty="0">
              <a:solidFill>
                <a:schemeClr val="bg1"/>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en-US" sz="2000" b="1" dirty="0">
                <a:solidFill>
                  <a:schemeClr val="bg1"/>
                </a:solidFill>
                <a:latin typeface="Times New Roman" panose="02020603050405020304" pitchFamily="18" charset="0"/>
                <a:cs typeface="Times New Roman" panose="02020603050405020304" pitchFamily="18" charset="0"/>
              </a:rPr>
              <a:t>Data Transformation Steps in Power BI</a:t>
            </a:r>
          </a:p>
          <a:p>
            <a:endParaRPr lang="en-US" sz="2000" b="1" dirty="0">
              <a:solidFill>
                <a:schemeClr val="bg1"/>
              </a:solidFill>
              <a:latin typeface="Times New Roman" panose="02020603050405020304" pitchFamily="18" charset="0"/>
              <a:cs typeface="Times New Roman" panose="02020603050405020304" pitchFamily="18" charset="0"/>
            </a:endParaRP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Removed duplicate records</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Handled missing and null values</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Converted data types (text, numeric, date)</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Created calculated columns for attrition count</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Grouped salary, age, and years at company into ranges</a:t>
            </a:r>
          </a:p>
          <a:p>
            <a:pPr lvl="1">
              <a:buFont typeface="Arial" panose="020B0604020202020204" pitchFamily="34" charset="0"/>
              <a:buChar char="•"/>
            </a:pPr>
            <a:r>
              <a:rPr lang="en-US" sz="2000" b="1" dirty="0">
                <a:solidFill>
                  <a:schemeClr val="bg1"/>
                </a:solidFill>
                <a:latin typeface="Times New Roman" panose="02020603050405020304" pitchFamily="18" charset="0"/>
                <a:cs typeface="Times New Roman" panose="02020603050405020304" pitchFamily="18" charset="0"/>
              </a:rPr>
              <a:t>Renamed columns for better clarity</a:t>
            </a:r>
          </a:p>
        </p:txBody>
      </p:sp>
    </p:spTree>
    <p:extLst>
      <p:ext uri="{BB962C8B-B14F-4D97-AF65-F5344CB8AC3E}">
        <p14:creationId xmlns:p14="http://schemas.microsoft.com/office/powerpoint/2010/main" val="24100754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7151C-597A-4A07-B21C-1991D6FDA99A}"/>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F0A86A5F-247C-49B0-9297-1C791A0C988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4430" y="0"/>
            <a:ext cx="12246430" cy="6858000"/>
          </a:xfrm>
        </p:spPr>
      </p:pic>
      <p:sp>
        <p:nvSpPr>
          <p:cNvPr id="6" name="Rectangle 5">
            <a:extLst>
              <a:ext uri="{FF2B5EF4-FFF2-40B4-BE49-F238E27FC236}">
                <a16:creationId xmlns:a16="http://schemas.microsoft.com/office/drawing/2014/main" id="{7E720C95-8A53-4C0A-B35A-2DD479CAED3F}"/>
              </a:ext>
            </a:extLst>
          </p:cNvPr>
          <p:cNvSpPr/>
          <p:nvPr/>
        </p:nvSpPr>
        <p:spPr>
          <a:xfrm>
            <a:off x="4061255" y="443131"/>
            <a:ext cx="3433953" cy="584775"/>
          </a:xfrm>
          <a:prstGeom prst="rect">
            <a:avLst/>
          </a:prstGeom>
        </p:spPr>
        <p:txBody>
          <a:bodyPr wrap="none">
            <a:spAutoFit/>
          </a:bodyPr>
          <a:lstStyle/>
          <a:p>
            <a:r>
              <a:rPr lang="en-IN" sz="3200" b="1" dirty="0">
                <a:solidFill>
                  <a:schemeClr val="bg1"/>
                </a:solidFill>
                <a:latin typeface="Algerian" panose="04020705040A02060702" pitchFamily="82" charset="0"/>
              </a:rPr>
              <a:t> DATA MODELING</a:t>
            </a:r>
            <a:endParaRPr lang="en-IN" sz="3200" dirty="0">
              <a:solidFill>
                <a:schemeClr val="bg1"/>
              </a:solidFill>
              <a:latin typeface="Algerian" panose="04020705040A02060702" pitchFamily="82" charset="0"/>
            </a:endParaRPr>
          </a:p>
        </p:txBody>
      </p:sp>
      <p:sp>
        <p:nvSpPr>
          <p:cNvPr id="7" name="Rectangle 6">
            <a:extLst>
              <a:ext uri="{FF2B5EF4-FFF2-40B4-BE49-F238E27FC236}">
                <a16:creationId xmlns:a16="http://schemas.microsoft.com/office/drawing/2014/main" id="{54281375-F88D-44E3-9364-E024E744DA98}"/>
              </a:ext>
            </a:extLst>
          </p:cNvPr>
          <p:cNvSpPr/>
          <p:nvPr/>
        </p:nvSpPr>
        <p:spPr>
          <a:xfrm>
            <a:off x="1133475" y="1447799"/>
            <a:ext cx="9791700" cy="4154984"/>
          </a:xfrm>
          <a:prstGeom prst="rect">
            <a:avLst/>
          </a:prstGeom>
        </p:spPr>
        <p:txBody>
          <a:bodyPr wrap="square">
            <a:spAutoFit/>
          </a:bodyPr>
          <a:lstStyle/>
          <a:p>
            <a:pPr marL="457200" lvl="0" indent="-457200">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A star schema was created for efficient analysis.</a:t>
            </a:r>
          </a:p>
          <a:p>
            <a:pPr lvl="0"/>
            <a:endParaRPr lang="en-IN" sz="2400" b="1" dirty="0">
              <a:solidFill>
                <a:schemeClr val="bg1"/>
              </a:solidFill>
              <a:latin typeface="Times New Roman" panose="02020603050405020304" pitchFamily="18" charset="0"/>
              <a:cs typeface="Times New Roman" panose="02020603050405020304" pitchFamily="18" charset="0"/>
            </a:endParaRPr>
          </a:p>
          <a:p>
            <a:pPr marL="457200" lvl="0" indent="-457200">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Fact table contains employee records and attrition status.</a:t>
            </a:r>
          </a:p>
          <a:p>
            <a:pPr lvl="0"/>
            <a:endParaRPr lang="en-IN" sz="2400" b="1" dirty="0">
              <a:solidFill>
                <a:schemeClr val="bg1"/>
              </a:solidFill>
              <a:latin typeface="Times New Roman" panose="02020603050405020304" pitchFamily="18" charset="0"/>
              <a:cs typeface="Times New Roman" panose="02020603050405020304" pitchFamily="18" charset="0"/>
            </a:endParaRPr>
          </a:p>
          <a:p>
            <a:pPr marL="457200" lvl="0" indent="-457200">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Dimension tables include age group, job role, department, and education field.</a:t>
            </a:r>
          </a:p>
          <a:p>
            <a:pPr lvl="0"/>
            <a:endParaRPr lang="en-IN" sz="2400" b="1" dirty="0">
              <a:solidFill>
                <a:schemeClr val="bg1"/>
              </a:solidFill>
              <a:latin typeface="Times New Roman" panose="02020603050405020304" pitchFamily="18" charset="0"/>
              <a:cs typeface="Times New Roman" panose="02020603050405020304" pitchFamily="18" charset="0"/>
            </a:endParaRPr>
          </a:p>
          <a:p>
            <a:pPr marL="457200" lvl="0" indent="-457200">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Relationships were established using employee ID and category fields.</a:t>
            </a:r>
          </a:p>
          <a:p>
            <a:pPr lvl="0"/>
            <a:endParaRPr lang="en-IN" sz="2400" b="1" dirty="0">
              <a:solidFill>
                <a:schemeClr val="bg1"/>
              </a:solidFill>
              <a:latin typeface="Times New Roman" panose="02020603050405020304" pitchFamily="18" charset="0"/>
              <a:cs typeface="Times New Roman" panose="02020603050405020304" pitchFamily="18" charset="0"/>
            </a:endParaRPr>
          </a:p>
          <a:p>
            <a:pPr marL="457200" lvl="0" indent="-457200">
              <a:buFont typeface="Wingdings" panose="05000000000000000000" pitchFamily="2" charset="2"/>
              <a:buChar char="Ø"/>
            </a:pPr>
            <a:r>
              <a:rPr lang="en-IN" sz="2400" b="1" dirty="0">
                <a:solidFill>
                  <a:schemeClr val="bg1"/>
                </a:solidFill>
                <a:latin typeface="Times New Roman" panose="02020603050405020304" pitchFamily="18" charset="0"/>
                <a:cs typeface="Times New Roman" panose="02020603050405020304" pitchFamily="18" charset="0"/>
              </a:rPr>
              <a:t>Measures were created using DAX to calculate attrition count, active employees, and attrition rate.</a:t>
            </a:r>
          </a:p>
        </p:txBody>
      </p:sp>
    </p:spTree>
    <p:extLst>
      <p:ext uri="{BB962C8B-B14F-4D97-AF65-F5344CB8AC3E}">
        <p14:creationId xmlns:p14="http://schemas.microsoft.com/office/powerpoint/2010/main" val="27737204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A56DA-F4F6-4A52-AAA7-D861D8767F6E}"/>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1283847B-C583-4E06-AEDD-9B3732BD586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4428" y="0"/>
            <a:ext cx="12246428" cy="6858000"/>
          </a:xfrm>
        </p:spPr>
      </p:pic>
      <p:sp>
        <p:nvSpPr>
          <p:cNvPr id="6" name="Rectangle 5">
            <a:extLst>
              <a:ext uri="{FF2B5EF4-FFF2-40B4-BE49-F238E27FC236}">
                <a16:creationId xmlns:a16="http://schemas.microsoft.com/office/drawing/2014/main" id="{7888EE60-3BC2-4ADB-80F1-D64E9F1C9393}"/>
              </a:ext>
            </a:extLst>
          </p:cNvPr>
          <p:cNvSpPr/>
          <p:nvPr/>
        </p:nvSpPr>
        <p:spPr>
          <a:xfrm>
            <a:off x="3609976" y="561975"/>
            <a:ext cx="3596382" cy="584775"/>
          </a:xfrm>
          <a:prstGeom prst="rect">
            <a:avLst/>
          </a:prstGeom>
        </p:spPr>
        <p:txBody>
          <a:bodyPr wrap="square">
            <a:spAutoFit/>
          </a:bodyPr>
          <a:lstStyle/>
          <a:p>
            <a:pPr algn="ctr"/>
            <a:r>
              <a:rPr lang="en-IN" sz="3200" b="1" dirty="0">
                <a:solidFill>
                  <a:schemeClr val="bg1"/>
                </a:solidFill>
                <a:latin typeface="Algerian" panose="04020705040A02060702" pitchFamily="82" charset="0"/>
              </a:rPr>
              <a:t>KPI SUMMARY</a:t>
            </a:r>
            <a:endParaRPr lang="en-IN" sz="3200" dirty="0">
              <a:solidFill>
                <a:schemeClr val="bg1"/>
              </a:solidFill>
            </a:endParaRPr>
          </a:p>
        </p:txBody>
      </p:sp>
      <p:sp>
        <p:nvSpPr>
          <p:cNvPr id="7" name="Rectangle 6">
            <a:extLst>
              <a:ext uri="{FF2B5EF4-FFF2-40B4-BE49-F238E27FC236}">
                <a16:creationId xmlns:a16="http://schemas.microsoft.com/office/drawing/2014/main" id="{280ECF4F-03EB-4EE4-B835-284B1E261C71}"/>
              </a:ext>
            </a:extLst>
          </p:cNvPr>
          <p:cNvSpPr/>
          <p:nvPr/>
        </p:nvSpPr>
        <p:spPr>
          <a:xfrm>
            <a:off x="1504949" y="1382286"/>
            <a:ext cx="9239251" cy="4401205"/>
          </a:xfrm>
          <a:prstGeom prst="rect">
            <a:avLst/>
          </a:prstGeom>
        </p:spPr>
        <p:txBody>
          <a:bodyPr wrap="square">
            <a:spAutoFit/>
          </a:bodyPr>
          <a:lstStyle/>
          <a:p>
            <a:r>
              <a:rPr lang="en-IN" sz="2800" b="1" dirty="0">
                <a:solidFill>
                  <a:schemeClr val="bg1"/>
                </a:solidFill>
                <a:latin typeface="Times New Roman" panose="02020603050405020304" pitchFamily="18" charset="0"/>
                <a:cs typeface="Times New Roman" panose="02020603050405020304" pitchFamily="18" charset="0"/>
              </a:rPr>
              <a:t>Key Performance Indicators used in the dashboard:</a:t>
            </a:r>
          </a:p>
          <a:p>
            <a:endParaRPr lang="en-IN" sz="2800" b="1" dirty="0">
              <a:solidFill>
                <a:schemeClr val="bg1"/>
              </a:solidFill>
              <a:latin typeface="Times New Roman" panose="02020603050405020304" pitchFamily="18" charset="0"/>
              <a:cs typeface="Times New Roman" panose="02020603050405020304" pitchFamily="18" charset="0"/>
            </a:endParaRP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Total Employees</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Total Attrition Count</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Active Employees</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Attrition Rate (%)</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Department-wise Attrition</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Job Role-wise Attrition</a:t>
            </a:r>
          </a:p>
          <a:p>
            <a:pPr lvl="1"/>
            <a:endParaRPr lang="en-IN" sz="2400" b="1" dirty="0">
              <a:solidFill>
                <a:schemeClr val="bg1"/>
              </a:solidFill>
              <a:latin typeface="Times New Roman" panose="02020603050405020304" pitchFamily="18" charset="0"/>
              <a:cs typeface="Times New Roman" panose="02020603050405020304" pitchFamily="18" charset="0"/>
            </a:endParaRPr>
          </a:p>
          <a:p>
            <a:r>
              <a:rPr lang="en-IN" sz="2800" b="1" dirty="0">
                <a:solidFill>
                  <a:schemeClr val="bg1"/>
                </a:solidFill>
                <a:latin typeface="Times New Roman" panose="02020603050405020304" pitchFamily="18" charset="0"/>
                <a:cs typeface="Times New Roman" panose="02020603050405020304" pitchFamily="18" charset="0"/>
              </a:rPr>
              <a:t>These KPIs provide a quick overview of employee attrition trends.</a:t>
            </a:r>
          </a:p>
        </p:txBody>
      </p:sp>
    </p:spTree>
    <p:extLst>
      <p:ext uri="{BB962C8B-B14F-4D97-AF65-F5344CB8AC3E}">
        <p14:creationId xmlns:p14="http://schemas.microsoft.com/office/powerpoint/2010/main" val="2737349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7912F-3270-4E9B-871E-1A67E544C935}"/>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698891F0-1E6B-43EB-BAC7-757A0E6C900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6675" y="0"/>
            <a:ext cx="12192000" cy="6858000"/>
          </a:xfrm>
        </p:spPr>
      </p:pic>
      <p:sp>
        <p:nvSpPr>
          <p:cNvPr id="6" name="Rectangle 5">
            <a:extLst>
              <a:ext uri="{FF2B5EF4-FFF2-40B4-BE49-F238E27FC236}">
                <a16:creationId xmlns:a16="http://schemas.microsoft.com/office/drawing/2014/main" id="{636A4AE9-4039-4876-AD02-F46D89CDABBF}"/>
              </a:ext>
            </a:extLst>
          </p:cNvPr>
          <p:cNvSpPr/>
          <p:nvPr/>
        </p:nvSpPr>
        <p:spPr>
          <a:xfrm>
            <a:off x="3078036" y="365125"/>
            <a:ext cx="5902578" cy="523220"/>
          </a:xfrm>
          <a:prstGeom prst="rect">
            <a:avLst/>
          </a:prstGeom>
        </p:spPr>
        <p:txBody>
          <a:bodyPr wrap="none">
            <a:spAutoFit/>
          </a:bodyPr>
          <a:lstStyle/>
          <a:p>
            <a:pPr algn="ctr"/>
            <a:r>
              <a:rPr lang="en-IN" sz="2800" b="1" dirty="0">
                <a:solidFill>
                  <a:schemeClr val="bg1"/>
                </a:solidFill>
                <a:latin typeface="Algerian" panose="04020705040A02060702" pitchFamily="82" charset="0"/>
              </a:rPr>
              <a:t> CHARTS USED IN THE DASHBOARD</a:t>
            </a:r>
            <a:endParaRPr lang="en-IN" sz="2800" dirty="0">
              <a:solidFill>
                <a:schemeClr val="bg1"/>
              </a:solidFill>
            </a:endParaRPr>
          </a:p>
        </p:txBody>
      </p:sp>
      <p:sp>
        <p:nvSpPr>
          <p:cNvPr id="7" name="Rectangle 6">
            <a:extLst>
              <a:ext uri="{FF2B5EF4-FFF2-40B4-BE49-F238E27FC236}">
                <a16:creationId xmlns:a16="http://schemas.microsoft.com/office/drawing/2014/main" id="{DE2AC155-7C6B-4CB3-94DD-CF52CDFE8BDF}"/>
              </a:ext>
            </a:extLst>
          </p:cNvPr>
          <p:cNvSpPr/>
          <p:nvPr/>
        </p:nvSpPr>
        <p:spPr>
          <a:xfrm>
            <a:off x="1323975" y="1677333"/>
            <a:ext cx="8648700" cy="3970318"/>
          </a:xfrm>
          <a:prstGeom prst="rect">
            <a:avLst/>
          </a:prstGeom>
        </p:spPr>
        <p:txBody>
          <a:bodyPr wrap="square">
            <a:spAutoFit/>
          </a:bodyPr>
          <a:lstStyle/>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Card Visuals – Total employees, attrition, active    employees</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Bar Chart – Attrition by job role and age group</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Line Chart – Attrition by years at company</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Donut Chart – Attrition by education field</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Column Chart – Attrition by salary group</a:t>
            </a:r>
          </a:p>
          <a:p>
            <a:pPr marL="800100" lvl="1" indent="-342900">
              <a:buFont typeface="Wingdings" panose="05000000000000000000" pitchFamily="2" charset="2"/>
              <a:buChar char="§"/>
            </a:pPr>
            <a:r>
              <a:rPr lang="en-IN" sz="2400" b="1" dirty="0">
                <a:solidFill>
                  <a:schemeClr val="bg1"/>
                </a:solidFill>
                <a:latin typeface="Times New Roman" panose="02020603050405020304" pitchFamily="18" charset="0"/>
                <a:cs typeface="Times New Roman" panose="02020603050405020304" pitchFamily="18" charset="0"/>
              </a:rPr>
              <a:t>Slicers – Gender, marital status, department</a:t>
            </a:r>
          </a:p>
          <a:p>
            <a:pPr marL="457200" indent="-457200">
              <a:buFont typeface="Wingdings" panose="05000000000000000000" pitchFamily="2" charset="2"/>
              <a:buChar char="§"/>
            </a:pPr>
            <a:endParaRPr lang="en-IN" sz="2800" b="1" dirty="0">
              <a:solidFill>
                <a:schemeClr val="bg1"/>
              </a:solidFill>
              <a:latin typeface="Times New Roman" panose="02020603050405020304" pitchFamily="18" charset="0"/>
              <a:cs typeface="Times New Roman" panose="02020603050405020304" pitchFamily="18" charset="0"/>
            </a:endParaRPr>
          </a:p>
          <a:p>
            <a:pPr marL="457200" indent="-457200">
              <a:buFont typeface="Wingdings" panose="05000000000000000000" pitchFamily="2" charset="2"/>
              <a:buChar char="§"/>
            </a:pPr>
            <a:r>
              <a:rPr lang="en-IN" sz="2800" b="1" dirty="0">
                <a:solidFill>
                  <a:schemeClr val="bg1"/>
                </a:solidFill>
                <a:latin typeface="Times New Roman" panose="02020603050405020304" pitchFamily="18" charset="0"/>
                <a:cs typeface="Times New Roman" panose="02020603050405020304" pitchFamily="18" charset="0"/>
              </a:rPr>
              <a:t>These visuals help in identifying trends and patterns easily.</a:t>
            </a:r>
          </a:p>
        </p:txBody>
      </p:sp>
    </p:spTree>
    <p:extLst>
      <p:ext uri="{BB962C8B-B14F-4D97-AF65-F5344CB8AC3E}">
        <p14:creationId xmlns:p14="http://schemas.microsoft.com/office/powerpoint/2010/main" val="30861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77107-B5EC-408E-909A-22C221640DF9}"/>
              </a:ext>
            </a:extLst>
          </p:cNvPr>
          <p:cNvSpPr>
            <a:spLocks noGrp="1"/>
          </p:cNvSpPr>
          <p:nvPr>
            <p:ph type="title"/>
          </p:nvPr>
        </p:nvSpPr>
        <p:spPr/>
        <p:txBody>
          <a:bodyPr/>
          <a:lstStyle/>
          <a:p>
            <a:endParaRPr lang="en-IN" dirty="0">
              <a:solidFill>
                <a:schemeClr val="bg1"/>
              </a:solidFill>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16C39D4E-D144-4948-BBDE-7EA8CE96147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8256"/>
            <a:ext cx="12186614" cy="6839744"/>
          </a:xfrm>
        </p:spPr>
      </p:pic>
      <p:sp>
        <p:nvSpPr>
          <p:cNvPr id="9" name="TextBox 8">
            <a:extLst>
              <a:ext uri="{FF2B5EF4-FFF2-40B4-BE49-F238E27FC236}">
                <a16:creationId xmlns:a16="http://schemas.microsoft.com/office/drawing/2014/main" id="{00E51E54-10C0-4529-904F-FAD033E19EC9}"/>
              </a:ext>
            </a:extLst>
          </p:cNvPr>
          <p:cNvSpPr txBox="1"/>
          <p:nvPr/>
        </p:nvSpPr>
        <p:spPr>
          <a:xfrm>
            <a:off x="2571750" y="458549"/>
            <a:ext cx="6038850" cy="830997"/>
          </a:xfrm>
          <a:prstGeom prst="rect">
            <a:avLst/>
          </a:prstGeom>
          <a:noFill/>
        </p:spPr>
        <p:txBody>
          <a:bodyPr wrap="square" rtlCol="0">
            <a:spAutoFit/>
          </a:bodyPr>
          <a:lstStyle/>
          <a:p>
            <a:pPr algn="ctr"/>
            <a:r>
              <a:rPr lang="en-US" sz="2400" dirty="0">
                <a:solidFill>
                  <a:schemeClr val="bg1"/>
                </a:solidFill>
                <a:latin typeface="Algerian" panose="04020705040A02060702" pitchFamily="82" charset="0"/>
              </a:rPr>
              <a:t>Power BI tools/visuals are used in charts</a:t>
            </a:r>
            <a:endParaRPr lang="en-IN" sz="2400" dirty="0">
              <a:solidFill>
                <a:schemeClr val="bg1"/>
              </a:solidFill>
              <a:latin typeface="Algerian" panose="04020705040A02060702" pitchFamily="82" charset="0"/>
            </a:endParaRPr>
          </a:p>
        </p:txBody>
      </p:sp>
      <p:sp>
        <p:nvSpPr>
          <p:cNvPr id="10" name="Rectangle 9">
            <a:extLst>
              <a:ext uri="{FF2B5EF4-FFF2-40B4-BE49-F238E27FC236}">
                <a16:creationId xmlns:a16="http://schemas.microsoft.com/office/drawing/2014/main" id="{4BD4894B-09BF-4F74-A0FA-2B1A71B66B79}"/>
              </a:ext>
            </a:extLst>
          </p:cNvPr>
          <p:cNvSpPr/>
          <p:nvPr/>
        </p:nvSpPr>
        <p:spPr>
          <a:xfrm>
            <a:off x="838201" y="1421070"/>
            <a:ext cx="8648699" cy="5509200"/>
          </a:xfrm>
          <a:prstGeom prst="rect">
            <a:avLst/>
          </a:prstGeom>
        </p:spPr>
        <p:txBody>
          <a:bodyPr wrap="square">
            <a:spAutoFit/>
          </a:bodyPr>
          <a:lstStyle/>
          <a:p>
            <a:r>
              <a:rPr lang="en-US" b="1" dirty="0">
                <a:solidFill>
                  <a:schemeClr val="bg1"/>
                </a:solidFill>
                <a:latin typeface="Times New Roman" panose="02020603050405020304" pitchFamily="18" charset="0"/>
                <a:cs typeface="Times New Roman" panose="02020603050405020304" pitchFamily="18" charset="0"/>
              </a:rPr>
              <a:t>STEP 1: KPI CARDS (Left Side)</a:t>
            </a:r>
          </a:p>
          <a:p>
            <a:endParaRPr lang="en-US" sz="1600"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	 Tool Used:</a:t>
            </a:r>
          </a:p>
          <a:p>
            <a:r>
              <a:rPr lang="en-US" sz="1600" b="1" dirty="0">
                <a:solidFill>
                  <a:schemeClr val="bg1"/>
                </a:solidFill>
                <a:latin typeface="Times New Roman" panose="02020603050405020304" pitchFamily="18" charset="0"/>
                <a:cs typeface="Times New Roman" panose="02020603050405020304" pitchFamily="18" charset="0"/>
              </a:rPr>
              <a:t>	             </a:t>
            </a:r>
            <a:r>
              <a:rPr lang="en-US" b="1" dirty="0">
                <a:solidFill>
                  <a:schemeClr val="bg1"/>
                </a:solidFill>
                <a:latin typeface="Times New Roman" panose="02020603050405020304" pitchFamily="18" charset="0"/>
                <a:cs typeface="Times New Roman" panose="02020603050405020304" pitchFamily="18" charset="0"/>
              </a:rPr>
              <a:t>Card Visual</a:t>
            </a:r>
            <a:endParaRPr lang="en-US" sz="1600" b="1" dirty="0">
              <a:solidFill>
                <a:schemeClr val="bg1"/>
              </a:solidFill>
              <a:latin typeface="Times New Roman" panose="02020603050405020304" pitchFamily="18" charset="0"/>
              <a:cs typeface="Times New Roman" panose="02020603050405020304" pitchFamily="18" charset="0"/>
            </a:endParaRPr>
          </a:p>
          <a:p>
            <a:endParaRPr lang="en-US" sz="1600" b="1" dirty="0">
              <a:solidFill>
                <a:schemeClr val="bg1"/>
              </a:solidFill>
              <a:latin typeface="Times New Roman" panose="02020603050405020304" pitchFamily="18" charset="0"/>
              <a:cs typeface="Times New Roman" panose="02020603050405020304" pitchFamily="18" charset="0"/>
            </a:endParaRPr>
          </a:p>
          <a:p>
            <a:r>
              <a:rPr lang="en-IN" b="1" dirty="0">
                <a:solidFill>
                  <a:schemeClr val="bg1"/>
                </a:solidFill>
                <a:latin typeface="Times New Roman" panose="02020603050405020304" pitchFamily="18" charset="0"/>
                <a:cs typeface="Times New Roman" panose="02020603050405020304" pitchFamily="18" charset="0"/>
              </a:rPr>
              <a:t>Fields Used:</a:t>
            </a:r>
          </a:p>
          <a:p>
            <a:endParaRPr lang="en-IN" sz="1600" dirty="0">
              <a:solidFill>
                <a:schemeClr val="bg1"/>
              </a:solidFill>
              <a:latin typeface="Times New Roman" panose="02020603050405020304" pitchFamily="18" charset="0"/>
              <a:cs typeface="Times New Roman" panose="02020603050405020304" pitchFamily="18" charset="0"/>
            </a:endParaRPr>
          </a:p>
          <a:p>
            <a:pPr marL="285750" lvl="0" indent="-285750" eaLnBrk="0" fontAlgn="base" hangingPunct="0">
              <a:spcBef>
                <a:spcPct val="0"/>
              </a:spcBef>
              <a:spcAft>
                <a:spcPct val="0"/>
              </a:spcAft>
              <a:buFont typeface="Wingdings" panose="05000000000000000000" pitchFamily="2" charset="2"/>
              <a:buChar char="§"/>
            </a:pPr>
            <a:r>
              <a:rPr kumimoji="0" lang="en-US" altLang="en-US" sz="1600" b="1"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Total Employees</a:t>
            </a:r>
            <a:r>
              <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 → Count of Employee ID</a:t>
            </a:r>
          </a:p>
          <a:p>
            <a:pPr marL="285750" lvl="0" indent="-285750" eaLnBrk="0" fontAlgn="base" hangingPunct="0">
              <a:spcBef>
                <a:spcPct val="0"/>
              </a:spcBef>
              <a:spcAft>
                <a:spcPct val="0"/>
              </a:spcAft>
              <a:buFont typeface="Wingdings" panose="05000000000000000000" pitchFamily="2" charset="2"/>
              <a:buChar char="§"/>
            </a:pPr>
            <a:r>
              <a:rPr kumimoji="0" lang="en-US" altLang="en-US" sz="1600" b="1"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Attrition</a:t>
            </a:r>
            <a:r>
              <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 → Count where Attrition = “Yes”</a:t>
            </a:r>
          </a:p>
          <a:p>
            <a:pPr marL="285750" lvl="0" indent="-285750" eaLnBrk="0" fontAlgn="base" hangingPunct="0">
              <a:spcBef>
                <a:spcPct val="0"/>
              </a:spcBef>
              <a:spcAft>
                <a:spcPct val="0"/>
              </a:spcAft>
              <a:buFont typeface="Wingdings" panose="05000000000000000000" pitchFamily="2" charset="2"/>
              <a:buChar char="§"/>
            </a:pPr>
            <a:r>
              <a:rPr kumimoji="0" lang="en-US" altLang="en-US" sz="1600" b="1"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Active Employees</a:t>
            </a:r>
            <a:r>
              <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 → Count where Attrition = “No”</a:t>
            </a: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Attrition Rate </a:t>
            </a:r>
            <a:r>
              <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 Count where Attrition Rate = “Yes”</a:t>
            </a:r>
            <a:endParaRPr lang="en-IN" sz="16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Avg Years in Company </a:t>
            </a:r>
            <a:r>
              <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rPr>
              <a:t>→ “Yes”</a:t>
            </a:r>
          </a:p>
          <a:p>
            <a:endParaRPr kumimoji="0" lang="en-US" altLang="en-US" sz="1600" b="0" i="0" u="none" strike="noStrike" cap="none" normalizeH="0" baseline="0" dirty="0">
              <a:ln>
                <a:noFill/>
              </a:ln>
              <a:solidFill>
                <a:schemeClr val="bg1"/>
              </a:solidFill>
              <a:effectLst/>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sz="1600"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Total Employees: </a:t>
            </a:r>
            <a:r>
              <a:rPr lang="en-US" sz="1600" b="1" dirty="0">
                <a:solidFill>
                  <a:schemeClr val="bg1"/>
                </a:solidFill>
                <a:latin typeface="Times New Roman" panose="02020603050405020304" pitchFamily="18" charset="0"/>
                <a:cs typeface="Times New Roman" panose="02020603050405020304" pitchFamily="18" charset="0"/>
              </a:rPr>
              <a:t>2883</a:t>
            </a:r>
            <a:endParaRPr lang="en-US" sz="16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Attrition: </a:t>
            </a:r>
            <a:r>
              <a:rPr lang="en-US" sz="1600" b="1" dirty="0">
                <a:solidFill>
                  <a:schemeClr val="bg1"/>
                </a:solidFill>
                <a:latin typeface="Times New Roman" panose="02020603050405020304" pitchFamily="18" charset="0"/>
                <a:cs typeface="Times New Roman" panose="02020603050405020304" pitchFamily="18" charset="0"/>
              </a:rPr>
              <a:t>453</a:t>
            </a:r>
            <a:endParaRPr lang="en-US" sz="16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Active Employees: </a:t>
            </a:r>
            <a:r>
              <a:rPr lang="en-US" sz="1600" b="1" dirty="0">
                <a:solidFill>
                  <a:schemeClr val="bg1"/>
                </a:solidFill>
                <a:latin typeface="Times New Roman" panose="02020603050405020304" pitchFamily="18" charset="0"/>
                <a:cs typeface="Times New Roman" panose="02020603050405020304" pitchFamily="18" charset="0"/>
              </a:rPr>
              <a:t>2430</a:t>
            </a: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Attrition Rate:16.1%</a:t>
            </a: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Avg Years in Company:7.1</a:t>
            </a:r>
          </a:p>
          <a:p>
            <a:endParaRPr lang="en-US" sz="20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93152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ABA38-CCE3-4807-9642-D333537FDF33}"/>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3B3BF74D-657B-4B20-AC62-E133E8F7987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4775" y="0"/>
            <a:ext cx="12299280" cy="6918345"/>
          </a:xfrm>
        </p:spPr>
      </p:pic>
      <p:sp>
        <p:nvSpPr>
          <p:cNvPr id="6" name="Rectangle 5">
            <a:extLst>
              <a:ext uri="{FF2B5EF4-FFF2-40B4-BE49-F238E27FC236}">
                <a16:creationId xmlns:a16="http://schemas.microsoft.com/office/drawing/2014/main" id="{46583BBA-157B-49EA-8372-775DA6B65CFF}"/>
              </a:ext>
            </a:extLst>
          </p:cNvPr>
          <p:cNvSpPr/>
          <p:nvPr/>
        </p:nvSpPr>
        <p:spPr>
          <a:xfrm>
            <a:off x="704850" y="949801"/>
            <a:ext cx="7486650" cy="4339650"/>
          </a:xfrm>
          <a:prstGeom prst="rect">
            <a:avLst/>
          </a:prstGeom>
        </p:spPr>
        <p:txBody>
          <a:bodyPr wrap="square">
            <a:spAutoFit/>
          </a:bodyPr>
          <a:lstStyle/>
          <a:p>
            <a:r>
              <a:rPr lang="en-US" b="1" dirty="0">
                <a:solidFill>
                  <a:schemeClr val="bg1"/>
                </a:solidFill>
                <a:latin typeface="Times New Roman" panose="02020603050405020304" pitchFamily="18" charset="0"/>
                <a:cs typeface="Times New Roman" panose="02020603050405020304" pitchFamily="18" charset="0"/>
              </a:rPr>
              <a:t>STEP 2: ATTRITION BY AGE GROUP</a:t>
            </a:r>
          </a:p>
          <a:p>
            <a:endParaRPr lang="en-US"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         Tool Used</a:t>
            </a:r>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Clustered Column Chart </a:t>
            </a:r>
          </a:p>
          <a:p>
            <a:endParaRPr lang="en-US" sz="1600"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b="1" dirty="0">
                <a:solidFill>
                  <a:schemeClr val="bg1"/>
                </a:solidFill>
                <a:latin typeface="Times New Roman" panose="02020603050405020304" pitchFamily="18" charset="0"/>
                <a:cs typeface="Times New Roman" panose="02020603050405020304" pitchFamily="18" charset="0"/>
              </a:rPr>
              <a:t>Axis</a:t>
            </a:r>
            <a:r>
              <a:rPr lang="en-US" sz="1600" dirty="0">
                <a:solidFill>
                  <a:schemeClr val="bg1"/>
                </a:solidFill>
                <a:latin typeface="Times New Roman" panose="02020603050405020304" pitchFamily="18" charset="0"/>
                <a:cs typeface="Times New Roman" panose="02020603050405020304" pitchFamily="18" charset="0"/>
              </a:rPr>
              <a:t> → Age Group</a:t>
            </a:r>
          </a:p>
          <a:p>
            <a:pPr marL="285750" indent="-285750">
              <a:buFont typeface="Wingdings" panose="05000000000000000000" pitchFamily="2" charset="2"/>
              <a:buChar char="§"/>
            </a:pPr>
            <a:r>
              <a:rPr lang="en-US" sz="1600" b="1" dirty="0">
                <a:solidFill>
                  <a:schemeClr val="bg1"/>
                </a:solidFill>
                <a:latin typeface="Times New Roman" panose="02020603050405020304" pitchFamily="18" charset="0"/>
                <a:cs typeface="Times New Roman" panose="02020603050405020304" pitchFamily="18" charset="0"/>
              </a:rPr>
              <a:t>Values</a:t>
            </a:r>
            <a:r>
              <a:rPr lang="en-US" sz="1600" dirty="0">
                <a:solidFill>
                  <a:schemeClr val="bg1"/>
                </a:solidFill>
                <a:latin typeface="Times New Roman" panose="02020603050405020304" pitchFamily="18" charset="0"/>
                <a:cs typeface="Times New Roman" panose="02020603050405020304" pitchFamily="18" charset="0"/>
              </a:rPr>
              <a:t> → Count of Attrition (Yes)</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Highest attrition in </a:t>
            </a:r>
            <a:r>
              <a:rPr lang="en-US" sz="1600" b="1" dirty="0">
                <a:solidFill>
                  <a:schemeClr val="bg1"/>
                </a:solidFill>
                <a:latin typeface="Times New Roman" panose="02020603050405020304" pitchFamily="18" charset="0"/>
                <a:cs typeface="Times New Roman" panose="02020603050405020304" pitchFamily="18" charset="0"/>
              </a:rPr>
              <a:t>26–35 age group</a:t>
            </a:r>
            <a:endParaRPr lang="en-US" sz="16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Very low attrition in </a:t>
            </a:r>
            <a:r>
              <a:rPr lang="en-US" sz="1600" b="1" dirty="0">
                <a:solidFill>
                  <a:schemeClr val="bg1"/>
                </a:solidFill>
                <a:latin typeface="Times New Roman" panose="02020603050405020304" pitchFamily="18" charset="0"/>
                <a:cs typeface="Times New Roman" panose="02020603050405020304" pitchFamily="18" charset="0"/>
              </a:rPr>
              <a:t>55+ group</a:t>
            </a:r>
          </a:p>
          <a:p>
            <a:endParaRPr lang="en-US" sz="1600"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endParaRPr lang="en-US" sz="1600" dirty="0">
              <a:solidFill>
                <a:schemeClr val="bg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B21E7F91-411C-4449-98C0-538BBC407EB9}"/>
              </a:ext>
            </a:extLst>
          </p:cNvPr>
          <p:cNvSpPr/>
          <p:nvPr/>
        </p:nvSpPr>
        <p:spPr>
          <a:xfrm>
            <a:off x="5634037" y="736620"/>
            <a:ext cx="5719763" cy="4124206"/>
          </a:xfrm>
          <a:prstGeom prst="rect">
            <a:avLst/>
          </a:prstGeom>
        </p:spPr>
        <p:txBody>
          <a:bodyPr wrap="square">
            <a:spAutoFit/>
          </a:bodyPr>
          <a:lstStyle/>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STEP 3: ATTRITION BY SALARY GROUP</a:t>
            </a:r>
          </a:p>
          <a:p>
            <a:endParaRPr lang="en-US"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                   Tool Used:</a:t>
            </a:r>
          </a:p>
          <a:p>
            <a:r>
              <a:rPr lang="en-US" b="1" dirty="0">
                <a:solidFill>
                  <a:schemeClr val="bg1"/>
                </a:solidFill>
                <a:latin typeface="Times New Roman" panose="02020603050405020304" pitchFamily="18" charset="0"/>
                <a:cs typeface="Times New Roman" panose="02020603050405020304" pitchFamily="18" charset="0"/>
              </a:rPr>
              <a:t>                         Area Chart</a:t>
            </a:r>
          </a:p>
          <a:p>
            <a:endParaRPr lang="en-US"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b="1" dirty="0">
                <a:solidFill>
                  <a:schemeClr val="bg1"/>
                </a:solidFill>
                <a:latin typeface="Times New Roman" panose="02020603050405020304" pitchFamily="18" charset="0"/>
                <a:cs typeface="Times New Roman" panose="02020603050405020304" pitchFamily="18" charset="0"/>
              </a:rPr>
              <a:t>Axis</a:t>
            </a:r>
            <a:r>
              <a:rPr lang="en-US" sz="1600" dirty="0">
                <a:solidFill>
                  <a:schemeClr val="bg1"/>
                </a:solidFill>
                <a:latin typeface="Times New Roman" panose="02020603050405020304" pitchFamily="18" charset="0"/>
                <a:cs typeface="Times New Roman" panose="02020603050405020304" pitchFamily="18" charset="0"/>
              </a:rPr>
              <a:t> → Salary Slab</a:t>
            </a:r>
          </a:p>
          <a:p>
            <a:pPr marL="285750" indent="-285750">
              <a:buFont typeface="Wingdings" panose="05000000000000000000" pitchFamily="2" charset="2"/>
              <a:buChar char="§"/>
            </a:pPr>
            <a:r>
              <a:rPr lang="en-US" sz="1600" b="1" dirty="0">
                <a:solidFill>
                  <a:schemeClr val="bg1"/>
                </a:solidFill>
                <a:latin typeface="Times New Roman" panose="02020603050405020304" pitchFamily="18" charset="0"/>
                <a:cs typeface="Times New Roman" panose="02020603050405020304" pitchFamily="18" charset="0"/>
              </a:rPr>
              <a:t>Values</a:t>
            </a:r>
            <a:r>
              <a:rPr lang="en-US" sz="1600" dirty="0">
                <a:solidFill>
                  <a:schemeClr val="bg1"/>
                </a:solidFill>
                <a:latin typeface="Times New Roman" panose="02020603050405020304" pitchFamily="18" charset="0"/>
                <a:cs typeface="Times New Roman" panose="02020603050405020304" pitchFamily="18" charset="0"/>
              </a:rPr>
              <a:t> → Count of Attrition</a:t>
            </a:r>
          </a:p>
          <a:p>
            <a:endParaRPr lang="en-US" sz="1600"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Maximum attrition in </a:t>
            </a:r>
            <a:r>
              <a:rPr lang="en-US" sz="1600" b="1" dirty="0">
                <a:solidFill>
                  <a:schemeClr val="bg1"/>
                </a:solidFill>
                <a:latin typeface="Times New Roman" panose="02020603050405020304" pitchFamily="18" charset="0"/>
                <a:cs typeface="Times New Roman" panose="02020603050405020304" pitchFamily="18" charset="0"/>
              </a:rPr>
              <a:t>50k–100k salary range</a:t>
            </a:r>
            <a:endParaRPr lang="en-US" sz="16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1600" dirty="0">
                <a:solidFill>
                  <a:schemeClr val="bg1"/>
                </a:solidFill>
                <a:latin typeface="Times New Roman" panose="02020603050405020304" pitchFamily="18" charset="0"/>
                <a:cs typeface="Times New Roman" panose="02020603050405020304" pitchFamily="18" charset="0"/>
              </a:rPr>
              <a:t>Attrition reduces as salary increases</a:t>
            </a:r>
          </a:p>
        </p:txBody>
      </p:sp>
    </p:spTree>
    <p:extLst>
      <p:ext uri="{BB962C8B-B14F-4D97-AF65-F5344CB8AC3E}">
        <p14:creationId xmlns:p14="http://schemas.microsoft.com/office/powerpoint/2010/main" val="22367641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6E442-757F-449D-A5E6-9F49C624B9DA}"/>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B7B02A71-1A79-4CBD-9547-86DF78A680F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7214" y="0"/>
            <a:ext cx="12246428" cy="6858000"/>
          </a:xfrm>
        </p:spPr>
      </p:pic>
      <p:sp>
        <p:nvSpPr>
          <p:cNvPr id="6" name="Rectangle 5">
            <a:extLst>
              <a:ext uri="{FF2B5EF4-FFF2-40B4-BE49-F238E27FC236}">
                <a16:creationId xmlns:a16="http://schemas.microsoft.com/office/drawing/2014/main" id="{7615CB98-0EEE-4FE3-AC5C-78C8D7D6B11A}"/>
              </a:ext>
            </a:extLst>
          </p:cNvPr>
          <p:cNvSpPr/>
          <p:nvPr/>
        </p:nvSpPr>
        <p:spPr>
          <a:xfrm>
            <a:off x="752476" y="922308"/>
            <a:ext cx="5143500" cy="3908762"/>
          </a:xfrm>
          <a:prstGeom prst="rect">
            <a:avLst/>
          </a:prstGeom>
        </p:spPr>
        <p:txBody>
          <a:bodyPr wrap="square">
            <a:spAutoFit/>
          </a:bodyPr>
          <a:lstStyle/>
          <a:p>
            <a:r>
              <a:rPr lang="en-US" b="1" dirty="0">
                <a:solidFill>
                  <a:schemeClr val="bg1"/>
                </a:solidFill>
                <a:latin typeface="Times New Roman" panose="02020603050405020304" pitchFamily="18" charset="0"/>
                <a:cs typeface="Times New Roman" panose="02020603050405020304" pitchFamily="18" charset="0"/>
              </a:rPr>
              <a:t>STEP 4: ATTRITION BY YEARS AT COMPANY</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Tool Used:</a:t>
            </a:r>
          </a:p>
          <a:p>
            <a:r>
              <a:rPr lang="en-US" sz="1600" b="1" dirty="0">
                <a:solidFill>
                  <a:schemeClr val="bg1"/>
                </a:solidFill>
                <a:latin typeface="Times New Roman" panose="02020603050405020304" pitchFamily="18" charset="0"/>
                <a:cs typeface="Times New Roman" panose="02020603050405020304" pitchFamily="18" charset="0"/>
              </a:rPr>
              <a:t>                          Line Chart</a:t>
            </a:r>
          </a:p>
          <a:p>
            <a:endParaRPr lang="en-US" sz="1600"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Axis</a:t>
            </a:r>
            <a:r>
              <a:rPr lang="en-US" dirty="0">
                <a:solidFill>
                  <a:schemeClr val="bg1"/>
                </a:solidFill>
                <a:latin typeface="Times New Roman" panose="02020603050405020304" pitchFamily="18" charset="0"/>
                <a:cs typeface="Times New Roman" panose="02020603050405020304" pitchFamily="18" charset="0"/>
              </a:rPr>
              <a:t> → Years at Company</a:t>
            </a: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Values</a:t>
            </a:r>
            <a:r>
              <a:rPr lang="en-US" dirty="0">
                <a:solidFill>
                  <a:schemeClr val="bg1"/>
                </a:solidFill>
                <a:latin typeface="Times New Roman" panose="02020603050405020304" pitchFamily="18" charset="0"/>
                <a:cs typeface="Times New Roman" panose="02020603050405020304" pitchFamily="18" charset="0"/>
              </a:rPr>
              <a:t> → Attrition Count</a:t>
            </a:r>
          </a:p>
          <a:p>
            <a:pPr marL="285750" indent="-285750">
              <a:buFont typeface="Wingdings" panose="05000000000000000000" pitchFamily="2" charset="2"/>
              <a:buChar char="§"/>
            </a:pPr>
            <a:endParaRPr lang="en-US"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High attrition during </a:t>
            </a:r>
            <a:r>
              <a:rPr lang="en-US" b="1" dirty="0">
                <a:solidFill>
                  <a:schemeClr val="bg1"/>
                </a:solidFill>
                <a:latin typeface="Times New Roman" panose="02020603050405020304" pitchFamily="18" charset="0"/>
                <a:cs typeface="Times New Roman" panose="02020603050405020304" pitchFamily="18" charset="0"/>
              </a:rPr>
              <a:t>initial years (0–3)</a:t>
            </a:r>
            <a:endParaRPr lang="en-US"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Very low attrition after long tenure</a:t>
            </a:r>
          </a:p>
        </p:txBody>
      </p:sp>
      <p:sp>
        <p:nvSpPr>
          <p:cNvPr id="7" name="Rectangle 6">
            <a:extLst>
              <a:ext uri="{FF2B5EF4-FFF2-40B4-BE49-F238E27FC236}">
                <a16:creationId xmlns:a16="http://schemas.microsoft.com/office/drawing/2014/main" id="{943C3624-7E33-456C-980C-1825C72FD10F}"/>
              </a:ext>
            </a:extLst>
          </p:cNvPr>
          <p:cNvSpPr/>
          <p:nvPr/>
        </p:nvSpPr>
        <p:spPr>
          <a:xfrm>
            <a:off x="6096000" y="922307"/>
            <a:ext cx="5924550" cy="4524315"/>
          </a:xfrm>
          <a:prstGeom prst="rect">
            <a:avLst/>
          </a:prstGeom>
        </p:spPr>
        <p:txBody>
          <a:bodyPr wrap="square">
            <a:spAutoFit/>
          </a:bodyPr>
          <a:lstStyle/>
          <a:p>
            <a:r>
              <a:rPr lang="en-US" b="1" dirty="0">
                <a:solidFill>
                  <a:schemeClr val="bg1"/>
                </a:solidFill>
                <a:latin typeface="Times New Roman" panose="02020603050405020304" pitchFamily="18" charset="0"/>
                <a:cs typeface="Times New Roman" panose="02020603050405020304" pitchFamily="18" charset="0"/>
              </a:rPr>
              <a:t>STEP 5: EMPLOYEES BY JOB ROLE &amp; JOB SATISFACTION</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Tool Used:</a:t>
            </a:r>
          </a:p>
          <a:p>
            <a:r>
              <a:rPr lang="en-US" b="1" dirty="0">
                <a:solidFill>
                  <a:schemeClr val="bg1"/>
                </a:solidFill>
                <a:latin typeface="Times New Roman" panose="02020603050405020304" pitchFamily="18" charset="0"/>
                <a:cs typeface="Times New Roman" panose="02020603050405020304" pitchFamily="18" charset="0"/>
              </a:rPr>
              <a:t>                                   Stacked Bar Chart</a:t>
            </a:r>
            <a:endParaRPr lang="en-US" dirty="0">
              <a:solidFill>
                <a:schemeClr val="bg1"/>
              </a:solidFill>
              <a:latin typeface="Times New Roman" panose="02020603050405020304" pitchFamily="18" charset="0"/>
              <a:cs typeface="Times New Roman" panose="02020603050405020304" pitchFamily="18" charset="0"/>
            </a:endParaRP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Y-Axis</a:t>
            </a:r>
            <a:r>
              <a:rPr lang="en-US" dirty="0">
                <a:solidFill>
                  <a:schemeClr val="bg1"/>
                </a:solidFill>
                <a:latin typeface="Times New Roman" panose="02020603050405020304" pitchFamily="18" charset="0"/>
                <a:cs typeface="Times New Roman" panose="02020603050405020304" pitchFamily="18" charset="0"/>
              </a:rPr>
              <a:t> → Job Role</a:t>
            </a: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Values</a:t>
            </a:r>
            <a:r>
              <a:rPr lang="en-US" dirty="0">
                <a:solidFill>
                  <a:schemeClr val="bg1"/>
                </a:solidFill>
                <a:latin typeface="Times New Roman" panose="02020603050405020304" pitchFamily="18" charset="0"/>
                <a:cs typeface="Times New Roman" panose="02020603050405020304" pitchFamily="18" charset="0"/>
              </a:rPr>
              <a:t> → Employee Count</a:t>
            </a: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Legend</a:t>
            </a:r>
            <a:r>
              <a:rPr lang="en-US" dirty="0">
                <a:solidFill>
                  <a:schemeClr val="bg1"/>
                </a:solidFill>
                <a:latin typeface="Times New Roman" panose="02020603050405020304" pitchFamily="18" charset="0"/>
                <a:cs typeface="Times New Roman" panose="02020603050405020304" pitchFamily="18" charset="0"/>
              </a:rPr>
              <a:t> → Job Satisfaction Level (0–4)</a:t>
            </a:r>
          </a:p>
          <a:p>
            <a:pPr marL="285750" indent="-285750">
              <a:buFont typeface="Wingdings" panose="05000000000000000000" pitchFamily="2" charset="2"/>
              <a:buChar char="§"/>
            </a:pPr>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Sales Executive and Research Scientist roles have more low satisfaction levels</a:t>
            </a:r>
          </a:p>
        </p:txBody>
      </p:sp>
    </p:spTree>
    <p:extLst>
      <p:ext uri="{BB962C8B-B14F-4D97-AF65-F5344CB8AC3E}">
        <p14:creationId xmlns:p14="http://schemas.microsoft.com/office/powerpoint/2010/main" val="4657754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D7CE431-195C-424D-9B8A-E5D426DD1D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268200" cy="6870192"/>
          </a:xfrm>
          <a:prstGeom prst="rect">
            <a:avLst/>
          </a:prstGeom>
        </p:spPr>
      </p:pic>
      <p:sp>
        <p:nvSpPr>
          <p:cNvPr id="6" name="Rectangle 5">
            <a:extLst>
              <a:ext uri="{FF2B5EF4-FFF2-40B4-BE49-F238E27FC236}">
                <a16:creationId xmlns:a16="http://schemas.microsoft.com/office/drawing/2014/main" id="{DBABC15B-85DC-46AC-B52B-7340ECA8558B}"/>
              </a:ext>
            </a:extLst>
          </p:cNvPr>
          <p:cNvSpPr/>
          <p:nvPr/>
        </p:nvSpPr>
        <p:spPr>
          <a:xfrm>
            <a:off x="304800" y="933449"/>
            <a:ext cx="5029199" cy="4278094"/>
          </a:xfrm>
          <a:prstGeom prst="rect">
            <a:avLst/>
          </a:prstGeom>
        </p:spPr>
        <p:txBody>
          <a:bodyPr wrap="square">
            <a:spAutoFit/>
          </a:bodyPr>
          <a:lstStyle/>
          <a:p>
            <a:r>
              <a:rPr lang="en-US" sz="2000" b="1" dirty="0">
                <a:solidFill>
                  <a:schemeClr val="bg1"/>
                </a:solidFill>
                <a:latin typeface="Times New Roman" panose="02020603050405020304" pitchFamily="18" charset="0"/>
                <a:cs typeface="Times New Roman" panose="02020603050405020304" pitchFamily="18" charset="0"/>
              </a:rPr>
              <a:t>STEP 6: ATTRITION BY JOB ROLE</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Tool Used:</a:t>
            </a:r>
          </a:p>
          <a:p>
            <a:r>
              <a:rPr lang="en-US" b="1" dirty="0">
                <a:solidFill>
                  <a:schemeClr val="bg1"/>
                </a:solidFill>
                <a:latin typeface="Times New Roman" panose="02020603050405020304" pitchFamily="18" charset="0"/>
                <a:cs typeface="Times New Roman" panose="02020603050405020304" pitchFamily="18" charset="0"/>
              </a:rPr>
              <a:t>                               Clustered Bar Chart</a:t>
            </a:r>
            <a:endParaRPr lang="en-US"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Axis</a:t>
            </a:r>
            <a:r>
              <a:rPr lang="en-US" dirty="0">
                <a:solidFill>
                  <a:schemeClr val="bg1"/>
                </a:solidFill>
                <a:latin typeface="Times New Roman" panose="02020603050405020304" pitchFamily="18" charset="0"/>
                <a:cs typeface="Times New Roman" panose="02020603050405020304" pitchFamily="18" charset="0"/>
              </a:rPr>
              <a:t> → Job Role</a:t>
            </a: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Values</a:t>
            </a:r>
            <a:r>
              <a:rPr lang="en-US" dirty="0">
                <a:solidFill>
                  <a:schemeClr val="bg1"/>
                </a:solidFill>
                <a:latin typeface="Times New Roman" panose="02020603050405020304" pitchFamily="18" charset="0"/>
                <a:cs typeface="Times New Roman" panose="02020603050405020304" pitchFamily="18" charset="0"/>
              </a:rPr>
              <a:t> → Attrition Count</a:t>
            </a:r>
          </a:p>
          <a:p>
            <a:endParaRPr lang="en-US"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What it Shows:</a:t>
            </a:r>
          </a:p>
          <a:p>
            <a:endParaRPr lang="en-US" b="1" dirty="0">
              <a:solidFill>
                <a:schemeClr val="bg1"/>
              </a:solidFill>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dirty="0">
                <a:solidFill>
                  <a:schemeClr val="bg1"/>
                </a:solidFill>
                <a:latin typeface="Times New Roman" panose="02020603050405020304" pitchFamily="18" charset="0"/>
                <a:cs typeface="Times New Roman" panose="02020603050405020304" pitchFamily="18" charset="0"/>
              </a:rPr>
              <a:t>Highest attrition in:</a:t>
            </a:r>
          </a:p>
          <a:p>
            <a:pPr marL="742950" lvl="1"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Sales Executive</a:t>
            </a:r>
          </a:p>
          <a:p>
            <a:pPr marL="742950" lvl="1"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Research Scientist</a:t>
            </a:r>
          </a:p>
          <a:p>
            <a:pPr marL="742950" lvl="1"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Laboratory Technician</a:t>
            </a:r>
          </a:p>
        </p:txBody>
      </p:sp>
      <p:sp>
        <p:nvSpPr>
          <p:cNvPr id="7" name="Rectangle 6">
            <a:extLst>
              <a:ext uri="{FF2B5EF4-FFF2-40B4-BE49-F238E27FC236}">
                <a16:creationId xmlns:a16="http://schemas.microsoft.com/office/drawing/2014/main" id="{F5FA119D-1F65-4755-BF2C-797989D12088}"/>
              </a:ext>
            </a:extLst>
          </p:cNvPr>
          <p:cNvSpPr/>
          <p:nvPr/>
        </p:nvSpPr>
        <p:spPr>
          <a:xfrm>
            <a:off x="5714999" y="933449"/>
            <a:ext cx="6257925" cy="3416320"/>
          </a:xfrm>
          <a:prstGeom prst="rect">
            <a:avLst/>
          </a:prstGeom>
        </p:spPr>
        <p:txBody>
          <a:bodyPr wrap="square">
            <a:spAutoFit/>
          </a:bodyPr>
          <a:lstStyle/>
          <a:p>
            <a:r>
              <a:rPr lang="en-US" b="1" dirty="0">
                <a:solidFill>
                  <a:schemeClr val="bg1"/>
                </a:solidFill>
                <a:latin typeface="Times New Roman" panose="02020603050405020304" pitchFamily="18" charset="0"/>
                <a:cs typeface="Times New Roman" panose="02020603050405020304" pitchFamily="18" charset="0"/>
              </a:rPr>
              <a:t>STEP 7: ATTRITION BY EDUCATION FIELD</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Tool Used:</a:t>
            </a:r>
          </a:p>
          <a:p>
            <a:r>
              <a:rPr lang="en-US" b="1" dirty="0">
                <a:solidFill>
                  <a:schemeClr val="bg1"/>
                </a:solidFill>
                <a:latin typeface="Times New Roman" panose="02020603050405020304" pitchFamily="18" charset="0"/>
                <a:cs typeface="Times New Roman" panose="02020603050405020304" pitchFamily="18" charset="0"/>
              </a:rPr>
              <a:t>                                 Donut Chart</a:t>
            </a:r>
            <a:endParaRPr lang="en-US"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Legend</a:t>
            </a:r>
            <a:r>
              <a:rPr lang="en-US" dirty="0">
                <a:solidFill>
                  <a:schemeClr val="bg1"/>
                </a:solidFill>
                <a:latin typeface="Times New Roman" panose="02020603050405020304" pitchFamily="18" charset="0"/>
                <a:cs typeface="Times New Roman" panose="02020603050405020304" pitchFamily="18" charset="0"/>
              </a:rPr>
              <a:t> → Education Field</a:t>
            </a:r>
          </a:p>
          <a:p>
            <a:pPr marL="285750" indent="-285750">
              <a:buFont typeface="Wingdings" panose="05000000000000000000" pitchFamily="2" charset="2"/>
              <a:buChar char="§"/>
            </a:pPr>
            <a:r>
              <a:rPr lang="en-US" b="1" dirty="0">
                <a:solidFill>
                  <a:schemeClr val="bg1"/>
                </a:solidFill>
                <a:latin typeface="Times New Roman" panose="02020603050405020304" pitchFamily="18" charset="0"/>
                <a:cs typeface="Times New Roman" panose="02020603050405020304" pitchFamily="18" charset="0"/>
              </a:rPr>
              <a:t>Values</a:t>
            </a:r>
            <a:r>
              <a:rPr lang="en-US" dirty="0">
                <a:solidFill>
                  <a:schemeClr val="bg1"/>
                </a:solidFill>
                <a:latin typeface="Times New Roman" panose="02020603050405020304" pitchFamily="18" charset="0"/>
                <a:cs typeface="Times New Roman" panose="02020603050405020304" pitchFamily="18" charset="0"/>
              </a:rPr>
              <a:t> → Attrition Count</a:t>
            </a: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What it Shows: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dirty="0">
                <a:solidFill>
                  <a:schemeClr val="bg1"/>
                </a:solidFill>
                <a:latin typeface="Times New Roman" panose="02020603050405020304" pitchFamily="18" charset="0"/>
                <a:cs typeface="Times New Roman" panose="02020603050405020304" pitchFamily="18" charset="0"/>
              </a:rPr>
              <a:t>Life Sciences &amp; Medical fields contribute most to attrition</a:t>
            </a:r>
          </a:p>
        </p:txBody>
      </p:sp>
    </p:spTree>
    <p:extLst>
      <p:ext uri="{BB962C8B-B14F-4D97-AF65-F5344CB8AC3E}">
        <p14:creationId xmlns:p14="http://schemas.microsoft.com/office/powerpoint/2010/main" val="40238361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D0748-CDCC-4514-A023-B08CAB7B17CB}"/>
              </a:ext>
            </a:extLst>
          </p:cNvPr>
          <p:cNvSpPr>
            <a:spLocks noGrp="1"/>
          </p:cNvSpPr>
          <p:nvPr>
            <p:ph type="title"/>
          </p:nvPr>
        </p:nvSpPr>
        <p:spPr/>
        <p:txBody>
          <a:bodyPr/>
          <a:lstStyle/>
          <a:p>
            <a:br>
              <a:rPr lang="en-US" dirty="0"/>
            </a:br>
            <a:endParaRPr lang="en-IN" dirty="0"/>
          </a:p>
        </p:txBody>
      </p:sp>
      <p:pic>
        <p:nvPicPr>
          <p:cNvPr id="5" name="Picture 4">
            <a:extLst>
              <a:ext uri="{FF2B5EF4-FFF2-40B4-BE49-F238E27FC236}">
                <a16:creationId xmlns:a16="http://schemas.microsoft.com/office/drawing/2014/main" id="{84030281-6130-4DAE-8482-925DE07902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763"/>
            <a:ext cx="12192000" cy="6827520"/>
          </a:xfrm>
          <a:prstGeom prst="rect">
            <a:avLst/>
          </a:prstGeom>
        </p:spPr>
      </p:pic>
      <p:sp>
        <p:nvSpPr>
          <p:cNvPr id="6" name="Rectangle 5">
            <a:extLst>
              <a:ext uri="{FF2B5EF4-FFF2-40B4-BE49-F238E27FC236}">
                <a16:creationId xmlns:a16="http://schemas.microsoft.com/office/drawing/2014/main" id="{AC3F97C3-0A47-45F3-A915-ACBA6EAB29D7}"/>
              </a:ext>
            </a:extLst>
          </p:cNvPr>
          <p:cNvSpPr/>
          <p:nvPr/>
        </p:nvSpPr>
        <p:spPr>
          <a:xfrm>
            <a:off x="1771650" y="796618"/>
            <a:ext cx="6915150" cy="4339650"/>
          </a:xfrm>
          <a:prstGeom prst="rect">
            <a:avLst/>
          </a:prstGeom>
        </p:spPr>
        <p:txBody>
          <a:bodyPr wrap="square">
            <a:spAutoFit/>
          </a:bodyPr>
          <a:lstStyle/>
          <a:p>
            <a:r>
              <a:rPr lang="en-US" sz="2400" b="1" dirty="0">
                <a:solidFill>
                  <a:schemeClr val="bg1"/>
                </a:solidFill>
                <a:latin typeface="Times New Roman" panose="02020603050405020304" pitchFamily="18" charset="0"/>
                <a:cs typeface="Times New Roman" panose="02020603050405020304" pitchFamily="18" charset="0"/>
              </a:rPr>
              <a:t>STEP 8: FILTERS (SLICERS)</a:t>
            </a:r>
          </a:p>
          <a:p>
            <a:r>
              <a:rPr lang="en-US" sz="2000" b="1" dirty="0">
                <a:solidFill>
                  <a:schemeClr val="bg1"/>
                </a:solidFill>
                <a:latin typeface="Times New Roman" panose="02020603050405020304" pitchFamily="18" charset="0"/>
                <a:cs typeface="Times New Roman" panose="02020603050405020304" pitchFamily="18" charset="0"/>
              </a:rPr>
              <a:t> </a:t>
            </a:r>
          </a:p>
          <a:p>
            <a:r>
              <a:rPr lang="en-US" b="1" dirty="0">
                <a:solidFill>
                  <a:schemeClr val="bg1"/>
                </a:solidFill>
                <a:latin typeface="Times New Roman" panose="02020603050405020304" pitchFamily="18" charset="0"/>
                <a:cs typeface="Times New Roman" panose="02020603050405020304" pitchFamily="18" charset="0"/>
              </a:rPr>
              <a:t>	</a:t>
            </a:r>
            <a:r>
              <a:rPr lang="en-US" sz="2000" b="1" dirty="0">
                <a:solidFill>
                  <a:schemeClr val="bg1"/>
                </a:solidFill>
                <a:latin typeface="Times New Roman" panose="02020603050405020304" pitchFamily="18" charset="0"/>
                <a:cs typeface="Times New Roman" panose="02020603050405020304" pitchFamily="18" charset="0"/>
              </a:rPr>
              <a:t>Tool Used:</a:t>
            </a:r>
          </a:p>
          <a:p>
            <a:endParaRPr lang="en-US" sz="2000"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	           Slicer</a:t>
            </a:r>
            <a:endParaRPr lang="en-US" dirty="0">
              <a:solidFill>
                <a:schemeClr val="bg1"/>
              </a:solidFill>
              <a:latin typeface="Times New Roman" panose="02020603050405020304" pitchFamily="18" charset="0"/>
              <a:cs typeface="Times New Roman" panose="02020603050405020304" pitchFamily="18" charset="0"/>
            </a:endParaRPr>
          </a:p>
          <a:p>
            <a:endParaRPr lang="en-US" b="1" dirty="0">
              <a:solidFill>
                <a:schemeClr val="bg1"/>
              </a:solidFill>
              <a:latin typeface="Times New Roman" panose="02020603050405020304" pitchFamily="18" charset="0"/>
              <a:cs typeface="Times New Roman" panose="02020603050405020304" pitchFamily="18" charset="0"/>
            </a:endParaRPr>
          </a:p>
          <a:p>
            <a:r>
              <a:rPr lang="en-US" b="1" dirty="0">
                <a:solidFill>
                  <a:schemeClr val="bg1"/>
                </a:solidFill>
                <a:latin typeface="Times New Roman" panose="02020603050405020304" pitchFamily="18" charset="0"/>
                <a:cs typeface="Times New Roman" panose="02020603050405020304" pitchFamily="18" charset="0"/>
              </a:rPr>
              <a:t> </a:t>
            </a:r>
            <a:r>
              <a:rPr lang="en-US" sz="2000" b="1" dirty="0">
                <a:solidFill>
                  <a:schemeClr val="bg1"/>
                </a:solidFill>
                <a:latin typeface="Times New Roman" panose="02020603050405020304" pitchFamily="18" charset="0"/>
                <a:cs typeface="Times New Roman" panose="02020603050405020304" pitchFamily="18" charset="0"/>
              </a:rPr>
              <a:t>Fields Used:</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2000" dirty="0">
                <a:solidFill>
                  <a:schemeClr val="bg1"/>
                </a:solidFill>
                <a:latin typeface="Times New Roman" panose="02020603050405020304" pitchFamily="18" charset="0"/>
                <a:cs typeface="Times New Roman" panose="02020603050405020304" pitchFamily="18" charset="0"/>
              </a:rPr>
              <a:t>Gender</a:t>
            </a:r>
          </a:p>
          <a:p>
            <a:pPr marL="285750" indent="-285750">
              <a:buFont typeface="Wingdings" panose="05000000000000000000" pitchFamily="2" charset="2"/>
              <a:buChar char="§"/>
            </a:pPr>
            <a:r>
              <a:rPr lang="en-US" sz="2000" dirty="0">
                <a:solidFill>
                  <a:schemeClr val="bg1"/>
                </a:solidFill>
                <a:latin typeface="Times New Roman" panose="02020603050405020304" pitchFamily="18" charset="0"/>
                <a:cs typeface="Times New Roman" panose="02020603050405020304" pitchFamily="18" charset="0"/>
              </a:rPr>
              <a:t>Marital Status</a:t>
            </a:r>
          </a:p>
          <a:p>
            <a:endParaRPr lang="en-US"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What it Does:</a:t>
            </a:r>
          </a:p>
          <a:p>
            <a:endParaRPr lang="en-US"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
            </a:pPr>
            <a:r>
              <a:rPr lang="en-US" sz="2000" dirty="0">
                <a:solidFill>
                  <a:schemeClr val="bg1"/>
                </a:solidFill>
                <a:latin typeface="Times New Roman" panose="02020603050405020304" pitchFamily="18" charset="0"/>
                <a:cs typeface="Times New Roman" panose="02020603050405020304" pitchFamily="18" charset="0"/>
              </a:rPr>
              <a:t>Filters all visuals dynamically based on selection</a:t>
            </a:r>
          </a:p>
        </p:txBody>
      </p:sp>
    </p:spTree>
    <p:extLst>
      <p:ext uri="{BB962C8B-B14F-4D97-AF65-F5344CB8AC3E}">
        <p14:creationId xmlns:p14="http://schemas.microsoft.com/office/powerpoint/2010/main" val="12337121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2B1B1A5-344B-49D2-96A9-D43871F68A9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12246428" cy="6857999"/>
          </a:xfrm>
        </p:spPr>
      </p:pic>
      <p:sp>
        <p:nvSpPr>
          <p:cNvPr id="2" name="Title 1">
            <a:extLst>
              <a:ext uri="{FF2B5EF4-FFF2-40B4-BE49-F238E27FC236}">
                <a16:creationId xmlns:a16="http://schemas.microsoft.com/office/drawing/2014/main" id="{9FB301A7-49F3-43F3-A44F-65695B73C05B}"/>
              </a:ext>
            </a:extLst>
          </p:cNvPr>
          <p:cNvSpPr>
            <a:spLocks noGrp="1"/>
          </p:cNvSpPr>
          <p:nvPr>
            <p:ph type="title"/>
          </p:nvPr>
        </p:nvSpPr>
        <p:spPr>
          <a:xfrm>
            <a:off x="3543300" y="2103437"/>
            <a:ext cx="5029200" cy="1773238"/>
          </a:xfrm>
        </p:spPr>
        <p:txBody>
          <a:bodyPr/>
          <a:lstStyle/>
          <a:p>
            <a:pPr algn="ctr"/>
            <a:r>
              <a:rPr lang="en-US" b="1" dirty="0">
                <a:solidFill>
                  <a:schemeClr val="bg1"/>
                </a:solidFill>
                <a:latin typeface="Algerian" panose="04020705040A02060702" pitchFamily="82" charset="0"/>
              </a:rPr>
              <a:t>THANK YOU</a:t>
            </a:r>
            <a:endParaRPr lang="en-IN" b="1" dirty="0">
              <a:solidFill>
                <a:schemeClr val="bg1"/>
              </a:solidFill>
              <a:latin typeface="Algerian" panose="04020705040A02060702" pitchFamily="82" charset="0"/>
            </a:endParaRPr>
          </a:p>
        </p:txBody>
      </p:sp>
    </p:spTree>
    <p:extLst>
      <p:ext uri="{BB962C8B-B14F-4D97-AF65-F5344CB8AC3E}">
        <p14:creationId xmlns:p14="http://schemas.microsoft.com/office/powerpoint/2010/main" val="1060030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286</TotalTime>
  <Words>766</Words>
  <Application>Microsoft Office PowerPoint</Application>
  <PresentationFormat>Widescreen</PresentationFormat>
  <Paragraphs>200</Paragraphs>
  <Slides>15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Algerian</vt:lpstr>
      <vt:lpstr>Arial</vt:lpstr>
      <vt:lpstr>Calibri</vt:lpstr>
      <vt:lpstr>Calibri Light</vt:lpstr>
      <vt:lpstr>Times New Roman</vt:lpstr>
      <vt:lpstr>Wingdings</vt:lpstr>
      <vt:lpstr>Office Theme</vt:lpstr>
      <vt:lpstr>PowerPoint Presentation</vt:lpstr>
      <vt:lpstr>PowerPoint Presentation</vt:lpstr>
      <vt:lpstr>PowerPoint Presentation</vt:lpstr>
      <vt:lpstr>     PROBALAM STATEMENT </vt:lpstr>
      <vt:lpstr>  DATASET OVERVIEW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Anudip</dc:creator>
  <cp:lastModifiedBy>Anudip</cp:lastModifiedBy>
  <cp:revision>24</cp:revision>
  <dcterms:created xsi:type="dcterms:W3CDTF">2026-01-30T07:05:28Z</dcterms:created>
  <dcterms:modified xsi:type="dcterms:W3CDTF">2026-01-31T11:57:07Z</dcterms:modified>
</cp:coreProperties>
</file>