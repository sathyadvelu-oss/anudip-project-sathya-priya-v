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9" r:id="rId4"/>
    <p:sldId id="258" r:id="rId5"/>
    <p:sldId id="260" r:id="rId6"/>
    <p:sldId id="261" r:id="rId7"/>
    <p:sldId id="262" r:id="rId8"/>
    <p:sldId id="263" r:id="rId9"/>
    <p:sldId id="264" r:id="rId10"/>
    <p:sldId id="265" r:id="rId11"/>
    <p:sldId id="266" r:id="rId12"/>
    <p:sldId id="267" r:id="rId13"/>
    <p:sldId id="268"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showGuides="1">
      <p:cViewPr varScale="1">
        <p:scale>
          <a:sx n="62" d="100"/>
          <a:sy n="62" d="100"/>
        </p:scale>
        <p:origin x="676" y="2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alphaModFix amt="59000"/>
            <a:lum/>
          </a:blip>
          <a:srcRect/>
          <a:stretch>
            <a:fillRect l="-17000" r="-17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
          <p:cNvSpPr txBox="1"/>
          <p:nvPr/>
        </p:nvSpPr>
        <p:spPr>
          <a:xfrm>
            <a:off x="6068702" y="4726254"/>
            <a:ext cx="2910911" cy="1936536"/>
          </a:xfrm>
          <a:prstGeom prst="rect">
            <a:avLst/>
          </a:prstGeom>
          <a:noFill/>
        </p:spPr>
        <p:txBody>
          <a:bodyPr wrap="square" rtlCol="0">
            <a:noAutofit/>
          </a:bodyPr>
          <a:lstStyle/>
          <a:p>
            <a:endParaRPr lang="en-US" sz="2400" b="1" dirty="0">
              <a:latin typeface="Algerian" panose="04020705040A02060702" pitchFamily="82" charset="0"/>
              <a:cs typeface="Algerian" panose="04020705040A02060702" charset="0"/>
            </a:endParaRPr>
          </a:p>
        </p:txBody>
      </p:sp>
      <p:pic>
        <p:nvPicPr>
          <p:cNvPr id="13" name="Picture 12">
            <a:extLst>
              <a:ext uri="{FF2B5EF4-FFF2-40B4-BE49-F238E27FC236}">
                <a16:creationId xmlns:a16="http://schemas.microsoft.com/office/drawing/2014/main" id="{7550D89D-7C0D-4195-986F-91A845086F78}"/>
              </a:ext>
            </a:extLst>
          </p:cNvPr>
          <p:cNvPicPr>
            <a:picLocks noChangeAspect="1"/>
          </p:cNvPicPr>
          <p:nvPr/>
        </p:nvPicPr>
        <p:blipFill>
          <a:blip r:embed="rId2"/>
          <a:stretch>
            <a:fillRect/>
          </a:stretch>
        </p:blipFill>
        <p:spPr>
          <a:xfrm>
            <a:off x="-1" y="94251"/>
            <a:ext cx="9151821" cy="6912723"/>
          </a:xfrm>
          <a:prstGeom prst="rect">
            <a:avLst/>
          </a:prstGeom>
        </p:spPr>
      </p:pic>
      <p:sp>
        <p:nvSpPr>
          <p:cNvPr id="20" name="Rectangle 19">
            <a:extLst>
              <a:ext uri="{FF2B5EF4-FFF2-40B4-BE49-F238E27FC236}">
                <a16:creationId xmlns:a16="http://schemas.microsoft.com/office/drawing/2014/main" id="{FD742FAD-3597-433B-9258-F59AE3458F1A}"/>
              </a:ext>
            </a:extLst>
          </p:cNvPr>
          <p:cNvSpPr/>
          <p:nvPr/>
        </p:nvSpPr>
        <p:spPr>
          <a:xfrm>
            <a:off x="0" y="0"/>
            <a:ext cx="9143999" cy="1695236"/>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IN" sz="3200" b="1" dirty="0" err="1">
                <a:solidFill>
                  <a:schemeClr val="bg1"/>
                </a:solidFill>
                <a:latin typeface="Algerian" panose="04020705040A02060702" pitchFamily="82" charset="0"/>
              </a:rPr>
              <a:t>Hatsun</a:t>
            </a:r>
            <a:r>
              <a:rPr lang="en-IN" sz="3200" b="1" dirty="0">
                <a:solidFill>
                  <a:schemeClr val="bg1"/>
                </a:solidFill>
                <a:latin typeface="Algerian" panose="04020705040A02060702" pitchFamily="82" charset="0"/>
              </a:rPr>
              <a:t> EMPLOYEE ATTRITION ANALYSIS REPORT</a:t>
            </a:r>
            <a:endParaRPr lang="en-IN" sz="3200" dirty="0">
              <a:solidFill>
                <a:schemeClr val="bg1"/>
              </a:solidFill>
              <a:latin typeface="Algerian" panose="04020705040A02060702" pitchFamily="82" charset="0"/>
            </a:endParaRPr>
          </a:p>
        </p:txBody>
      </p:sp>
      <p:sp>
        <p:nvSpPr>
          <p:cNvPr id="5" name="Rectangle 4">
            <a:extLst>
              <a:ext uri="{FF2B5EF4-FFF2-40B4-BE49-F238E27FC236}">
                <a16:creationId xmlns:a16="http://schemas.microsoft.com/office/drawing/2014/main" id="{9D8E045E-35D8-4823-AD4B-EE886F184D5D}"/>
              </a:ext>
            </a:extLst>
          </p:cNvPr>
          <p:cNvSpPr/>
          <p:nvPr/>
        </p:nvSpPr>
        <p:spPr>
          <a:xfrm flipH="1">
            <a:off x="5568592" y="5462461"/>
            <a:ext cx="3265519" cy="1200329"/>
          </a:xfrm>
          <a:prstGeom prst="rect">
            <a:avLst/>
          </a:prstGeom>
        </p:spPr>
        <p:txBody>
          <a:bodyPr wrap="square">
            <a:spAutoFit/>
          </a:bodyPr>
          <a:lstStyle/>
          <a:p>
            <a:r>
              <a:rPr lang="en-US" sz="3600" b="1" dirty="0">
                <a:solidFill>
                  <a:schemeClr val="bg1"/>
                </a:solidFill>
                <a:latin typeface="Times New Roman" panose="02020603050405020304" pitchFamily="18" charset="0"/>
                <a:cs typeface="Times New Roman" panose="02020603050405020304" pitchFamily="18" charset="0"/>
              </a:rPr>
              <a:t>Presented BY :</a:t>
            </a:r>
          </a:p>
          <a:p>
            <a:r>
              <a:rPr lang="en-US" sz="3600" b="1" dirty="0">
                <a:solidFill>
                  <a:schemeClr val="bg1"/>
                </a:solidFill>
                <a:latin typeface="Times New Roman" panose="02020603050405020304" pitchFamily="18" charset="0"/>
                <a:cs typeface="Times New Roman" panose="02020603050405020304" pitchFamily="18" charset="0"/>
              </a:rPr>
              <a:t>Sathya Priya V</a:t>
            </a:r>
          </a:p>
        </p:txBody>
      </p:sp>
    </p:spTree>
  </p:cSld>
  <p:clrMapOvr>
    <a:masterClrMapping/>
  </p:clrMapOvr>
  <mc:AlternateContent xmlns:mc="http://schemas.openxmlformats.org/markup-compatibility/2006" xmlns:p14="http://schemas.microsoft.com/office/powerpoint/2010/main">
    <mc:Choice Requires="p14">
      <p:transition spd="slow" p14:dur="1500" advTm="3000">
        <p:split orient="vert" dir="in"/>
      </p:transition>
    </mc:Choice>
    <mc:Fallback xmlns="">
      <p:transition spd="slow" advTm="3000">
        <p:split orient="vert" dir="in"/>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27E2F74-0874-4B4A-83F0-F112CA4754B3}"/>
              </a:ext>
            </a:extLst>
          </p:cNvPr>
          <p:cNvPicPr>
            <a:picLocks noChangeAspect="1"/>
          </p:cNvPicPr>
          <p:nvPr/>
        </p:nvPicPr>
        <p:blipFill>
          <a:blip r:embed="rId2"/>
          <a:stretch>
            <a:fillRect/>
          </a:stretch>
        </p:blipFill>
        <p:spPr>
          <a:xfrm>
            <a:off x="0" y="0"/>
            <a:ext cx="9144000" cy="7253554"/>
          </a:xfrm>
          <a:prstGeom prst="rect">
            <a:avLst/>
          </a:prstGeom>
        </p:spPr>
      </p:pic>
      <p:sp>
        <p:nvSpPr>
          <p:cNvPr id="2" name="Title 1"/>
          <p:cNvSpPr>
            <a:spLocks noGrp="1"/>
          </p:cNvSpPr>
          <p:nvPr>
            <p:ph type="title"/>
          </p:nvPr>
        </p:nvSpPr>
        <p:spPr/>
        <p:txBody>
          <a:bodyPr/>
          <a:lstStyle/>
          <a:p>
            <a:r>
              <a:rPr b="1" dirty="0">
                <a:latin typeface="Algerian" panose="04020705040A02060702" charset="0"/>
                <a:cs typeface="Algerian" panose="04020705040A02060702" charset="0"/>
              </a:rPr>
              <a:t>Agenda</a:t>
            </a:r>
          </a:p>
        </p:txBody>
      </p:sp>
      <p:sp>
        <p:nvSpPr>
          <p:cNvPr id="3" name="Content Placeholder 2"/>
          <p:cNvSpPr>
            <a:spLocks noGrp="1"/>
          </p:cNvSpPr>
          <p:nvPr>
            <p:ph idx="1"/>
          </p:nvPr>
        </p:nvSpPr>
        <p:spPr/>
        <p:txBody>
          <a:bodyPr>
            <a:noAutofit/>
          </a:bodyPr>
          <a:lstStyle/>
          <a:p>
            <a:r>
              <a:rPr sz="2400" b="1" dirty="0">
                <a:latin typeface="Algerian" panose="04020705040A02060702" pitchFamily="82" charset="0"/>
                <a:cs typeface="Arial Black" panose="020B0A04020102020204" charset="0"/>
              </a:rPr>
              <a:t>Introduction</a:t>
            </a:r>
          </a:p>
          <a:p>
            <a:r>
              <a:rPr lang="en-IN" sz="2400" b="1" dirty="0">
                <a:latin typeface="Algerian" panose="04020705040A02060702" pitchFamily="82" charset="0"/>
              </a:rPr>
              <a:t>PROBLEM STATEMENT</a:t>
            </a:r>
            <a:endParaRPr lang="en-IN" sz="2400" dirty="0">
              <a:latin typeface="Algerian" panose="04020705040A02060702" pitchFamily="82" charset="0"/>
            </a:endParaRPr>
          </a:p>
          <a:p>
            <a:r>
              <a:rPr lang="en-IN" sz="2400" b="1" dirty="0">
                <a:latin typeface="Algerian" panose="04020705040A02060702" pitchFamily="82" charset="0"/>
              </a:rPr>
              <a:t>DATASET OVERVIEW</a:t>
            </a:r>
            <a:endParaRPr lang="en-IN" sz="2400" dirty="0">
              <a:latin typeface="Algerian" panose="04020705040A02060702" pitchFamily="82" charset="0"/>
            </a:endParaRPr>
          </a:p>
          <a:p>
            <a:r>
              <a:rPr lang="en-IN" sz="2400" b="1" dirty="0">
                <a:latin typeface="Algerian" panose="04020705040A02060702" pitchFamily="82" charset="0"/>
              </a:rPr>
              <a:t>TECHNOLOGY USED &amp; DATA TRANSFORMATION STEPS </a:t>
            </a:r>
          </a:p>
          <a:p>
            <a:r>
              <a:rPr lang="en-IN" sz="2400" b="1" dirty="0">
                <a:latin typeface="Algerian" panose="04020705040A02060702" pitchFamily="82" charset="0"/>
              </a:rPr>
              <a:t>DATA MODELING</a:t>
            </a:r>
            <a:endParaRPr sz="2400" b="1" dirty="0">
              <a:latin typeface="Algerian" panose="04020705040A02060702" pitchFamily="82" charset="0"/>
              <a:cs typeface="Arial Black" panose="020B0A04020102020204" charset="0"/>
            </a:endParaRPr>
          </a:p>
          <a:p>
            <a:r>
              <a:rPr lang="en-IN" sz="2400" b="1" dirty="0">
                <a:latin typeface="Algerian" panose="04020705040A02060702" pitchFamily="82" charset="0"/>
              </a:rPr>
              <a:t>KPI SUMMARY</a:t>
            </a:r>
            <a:endParaRPr sz="2400" b="1" dirty="0">
              <a:latin typeface="Algerian" panose="04020705040A02060702" pitchFamily="82" charset="0"/>
              <a:cs typeface="Arial Black" panose="020B0A04020102020204" charset="0"/>
            </a:endParaRPr>
          </a:p>
          <a:p>
            <a:r>
              <a:rPr lang="en-IN" sz="2400" b="1" dirty="0">
                <a:latin typeface="Algerian" panose="04020705040A02060702" pitchFamily="82" charset="0"/>
              </a:rPr>
              <a:t>CHARTS USED IN THE DASHBOARD</a:t>
            </a:r>
          </a:p>
          <a:p>
            <a:r>
              <a:rPr lang="en-IN" sz="2400" b="1" dirty="0">
                <a:latin typeface="Algerian" panose="04020705040A02060702" pitchFamily="82" charset="0"/>
              </a:rPr>
              <a:t>TEN PROBLEM STATEMENT QUESTIONS WITH EXPLANATIONS</a:t>
            </a:r>
          </a:p>
          <a:p>
            <a:r>
              <a:rPr lang="en-IN" sz="2400" b="1" dirty="0">
                <a:latin typeface="Algerian" panose="04020705040A02060702" pitchFamily="82" charset="0"/>
              </a:rPr>
              <a:t>CONCLUSION</a:t>
            </a:r>
            <a:endParaRPr lang="en-IN" sz="2400" dirty="0">
              <a:latin typeface="Algerian" panose="04020705040A02060702" pitchFamily="82" charset="0"/>
            </a:endParaRPr>
          </a:p>
          <a:p>
            <a:pPr marL="0" indent="0">
              <a:buNone/>
            </a:pPr>
            <a:endParaRPr lang="en-IN" sz="2400" b="1" dirty="0">
              <a:latin typeface="Arial Black" panose="020B0A040201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advTm="3000">
        <p:comb/>
      </p:transition>
    </mc:Choice>
    <mc:Fallback xmlns="">
      <p:transition spd="slow" advTm="3000">
        <p:comb/>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B73A789-2AF2-402C-8FD2-203D118250D1}"/>
              </a:ext>
            </a:extLst>
          </p:cNvPr>
          <p:cNvSpPr/>
          <p:nvPr/>
        </p:nvSpPr>
        <p:spPr>
          <a:xfrm>
            <a:off x="2887038" y="339048"/>
            <a:ext cx="4006166" cy="707886"/>
          </a:xfrm>
          <a:prstGeom prst="rect">
            <a:avLst/>
          </a:prstGeom>
        </p:spPr>
        <p:txBody>
          <a:bodyPr wrap="square">
            <a:spAutoFit/>
          </a:bodyPr>
          <a:lstStyle/>
          <a:p>
            <a:pPr algn="ctr"/>
            <a:r>
              <a:rPr lang="en-IN" sz="4000" b="1" dirty="0">
                <a:latin typeface="Algerian" panose="04020705040A02060702" pitchFamily="82" charset="0"/>
              </a:rPr>
              <a:t>INTRODUCTION</a:t>
            </a:r>
            <a:endParaRPr lang="en-IN" sz="4000" dirty="0"/>
          </a:p>
        </p:txBody>
      </p:sp>
      <p:sp>
        <p:nvSpPr>
          <p:cNvPr id="5" name="Rectangle 4">
            <a:extLst>
              <a:ext uri="{FF2B5EF4-FFF2-40B4-BE49-F238E27FC236}">
                <a16:creationId xmlns:a16="http://schemas.microsoft.com/office/drawing/2014/main" id="{9148F8A6-6D97-430F-AD17-1DA92C8BAD46}"/>
              </a:ext>
            </a:extLst>
          </p:cNvPr>
          <p:cNvSpPr/>
          <p:nvPr/>
        </p:nvSpPr>
        <p:spPr>
          <a:xfrm>
            <a:off x="544529" y="1375971"/>
            <a:ext cx="8044667" cy="4154984"/>
          </a:xfrm>
          <a:prstGeom prst="rect">
            <a:avLst/>
          </a:prstGeom>
        </p:spPr>
        <p:txBody>
          <a:bodyPr wrap="square">
            <a:spAutoFit/>
          </a:bodyPr>
          <a:lstStyle/>
          <a:p>
            <a:r>
              <a:rPr lang="en-US" sz="2400" b="1" dirty="0">
                <a:latin typeface="Times New Roman" panose="02020603050405020304" pitchFamily="18" charset="0"/>
                <a:cs typeface="Times New Roman" panose="02020603050405020304" pitchFamily="18" charset="0"/>
              </a:rPr>
              <a:t>Employee attrition refers to the loss of employees due to resignation, retirement, or termination. High employee attrition can negatively impact an organization by increasing hiring and training costs, reducing productivity, and affecting employee morale. Understanding attrition patterns helps organizations take corrective actions to improve employee retention.</a:t>
            </a:r>
          </a:p>
          <a:p>
            <a:endParaRPr lang="en-US" sz="2400" b="1"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This project focuses on analyzing employee attrition using historical HR data and visualizing insights through a Power BI dashboard.</a:t>
            </a:r>
          </a:p>
        </p:txBody>
      </p:sp>
    </p:spTree>
  </p:cSld>
  <p:clrMapOvr>
    <a:masterClrMapping/>
  </p:clrMapOvr>
  <mc:AlternateContent xmlns:mc="http://schemas.openxmlformats.org/markup-compatibility/2006" xmlns:p14="http://schemas.microsoft.com/office/powerpoint/2010/main">
    <mc:Choice Requires="p14">
      <p:transition spd="slow" advTm="3000">
        <p:wheel spokes="8"/>
      </p:transition>
    </mc:Choice>
    <mc:Fallback xmlns="">
      <p:transition spd="slow" advTm="3000">
        <p:wheel spokes="8"/>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74000"/>
            <a:lum/>
          </a:blip>
          <a:srcRect/>
          <a:stretch>
            <a:fillRect l="-17000" r="-17000"/>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69870" y="1428107"/>
            <a:ext cx="8316930" cy="1150706"/>
          </a:xfrm>
        </p:spPr>
        <p:txBody>
          <a:bodyPr>
            <a:noAutofit/>
          </a:bodyPr>
          <a:lstStyle/>
          <a:p>
            <a:r>
              <a:rPr lang="en-IN" sz="4000" b="1" dirty="0">
                <a:latin typeface="Times New Roman" panose="02020603050405020304" pitchFamily="18" charset="0"/>
                <a:cs typeface="Times New Roman" panose="02020603050405020304" pitchFamily="18" charset="0"/>
              </a:rPr>
              <a:t>				</a:t>
            </a:r>
            <a:br>
              <a:rPr lang="en-IN" sz="4000" b="1" dirty="0">
                <a:latin typeface="Times New Roman" panose="02020603050405020304" pitchFamily="18" charset="0"/>
                <a:cs typeface="Times New Roman" panose="02020603050405020304" pitchFamily="18" charset="0"/>
              </a:rPr>
            </a:br>
            <a:r>
              <a:rPr lang="en-IN" sz="4000" b="1" dirty="0">
                <a:latin typeface="Times New Roman" panose="02020603050405020304" pitchFamily="18" charset="0"/>
                <a:cs typeface="Times New Roman" panose="02020603050405020304" pitchFamily="18" charset="0"/>
              </a:rPr>
              <a:t>PROBALAM STATEMENT</a:t>
            </a:r>
            <a:br>
              <a:rPr lang="en-IN" sz="4000" b="1" dirty="0">
                <a:latin typeface="Times New Roman" panose="02020603050405020304" pitchFamily="18" charset="0"/>
                <a:cs typeface="Times New Roman" panose="02020603050405020304" pitchFamily="18" charset="0"/>
              </a:rPr>
            </a:br>
            <a:endParaRPr lang="en-IN" sz="4000" dirty="0">
              <a:solidFill>
                <a:schemeClr val="bg1"/>
              </a:solidFill>
              <a:latin typeface="Algerian" panose="04020705040A02060702" pitchFamily="82" charset="0"/>
            </a:endParaRPr>
          </a:p>
        </p:txBody>
      </p:sp>
      <p:sp>
        <p:nvSpPr>
          <p:cNvPr id="3" name="Content Placeholder 2"/>
          <p:cNvSpPr>
            <a:spLocks noGrp="1"/>
          </p:cNvSpPr>
          <p:nvPr>
            <p:ph idx="1"/>
          </p:nvPr>
        </p:nvSpPr>
        <p:spPr>
          <a:xfrm>
            <a:off x="0" y="2352782"/>
            <a:ext cx="9051533" cy="3698697"/>
          </a:xfrm>
        </p:spPr>
        <p:txBody>
          <a:bodyPr>
            <a:noAutofit/>
          </a:bodyPr>
          <a:lstStyle/>
          <a:p>
            <a:pPr marL="457200" lvl="1" indent="0">
              <a:buNone/>
            </a:pPr>
            <a:endParaRPr lang="en-IN" sz="2400" b="1" dirty="0">
              <a:latin typeface="Times New Roman" panose="02020603050405020304" pitchFamily="18" charset="0"/>
              <a:cs typeface="Times New Roman" panose="02020603050405020304" pitchFamily="18" charset="0"/>
            </a:endParaRPr>
          </a:p>
          <a:p>
            <a:pPr lvl="1">
              <a:buFont typeface="Wingdings" panose="05000000000000000000" pitchFamily="2" charset="2"/>
              <a:buChar char="v"/>
            </a:pPr>
            <a:r>
              <a:rPr lang="en-IN" sz="2400" b="1"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The organization is facing increasing  employee attrition, especially among certain age groups, job roles, salary ranges, and employees with fewer years of experience. This has resulted in higher recruitment costs, workload imbalance, and reduced operational efficiency. The problem is to identify the key factors causing employee attrition and suggest effective strategies to reduce employee turnover</a:t>
            </a:r>
            <a:endParaRPr sz="2400" b="1"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slow" p14:dur="1600" advTm="3000">
        <p:blinds/>
      </p:transition>
    </mc:Choice>
    <mc:Fallback xmlns="">
      <p:transition spd="slow" advTm="3000">
        <p:blind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64000"/>
            <a:lum/>
          </a:blip>
          <a:srcRect/>
          <a:stretch>
            <a:fillRect l="-17000" r="-17000"/>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146014"/>
            <a:ext cx="8229600" cy="1014966"/>
          </a:xfrm>
        </p:spPr>
        <p:txBody>
          <a:bodyPr>
            <a:noAutofit/>
          </a:bodyPr>
          <a:lstStyle/>
          <a:p>
            <a:br>
              <a:rPr lang="en-IN" b="1" dirty="0">
                <a:latin typeface="Algerian" panose="04020705040A02060702" pitchFamily="82" charset="0"/>
              </a:rPr>
            </a:br>
            <a:r>
              <a:rPr lang="en-IN" b="1" dirty="0">
                <a:latin typeface="Algerian" panose="04020705040A02060702" pitchFamily="82" charset="0"/>
              </a:rPr>
              <a:t> DATASET OVERVIEW</a:t>
            </a:r>
            <a:br>
              <a:rPr lang="en-IN" dirty="0">
                <a:latin typeface="Algerian" panose="04020705040A02060702" pitchFamily="82" charset="0"/>
              </a:rPr>
            </a:br>
            <a:endParaRPr b="1" dirty="0">
              <a:latin typeface="Algerian" panose="04020705040A02060702" pitchFamily="82" charset="0"/>
              <a:cs typeface="Algerian" panose="04020705040A02060702" charset="0"/>
            </a:endParaRPr>
          </a:p>
        </p:txBody>
      </p:sp>
      <p:sp>
        <p:nvSpPr>
          <p:cNvPr id="3" name="Content Placeholder 2"/>
          <p:cNvSpPr>
            <a:spLocks noGrp="1"/>
          </p:cNvSpPr>
          <p:nvPr>
            <p:ph idx="1"/>
          </p:nvPr>
        </p:nvSpPr>
        <p:spPr>
          <a:xfrm>
            <a:off x="92468" y="1294543"/>
            <a:ext cx="8959066" cy="5563457"/>
          </a:xfrm>
        </p:spPr>
        <p:txBody>
          <a:bodyPr>
            <a:noAutofit/>
          </a:bodyPr>
          <a:lstStyle/>
          <a:p>
            <a:pPr marL="0" indent="0">
              <a:buNone/>
            </a:pPr>
            <a:r>
              <a:rPr lang="en-IN" sz="2000" b="1" dirty="0">
                <a:latin typeface="Times New Roman" panose="02020603050405020304" pitchFamily="18" charset="0"/>
                <a:cs typeface="Times New Roman" panose="02020603050405020304" pitchFamily="18" charset="0"/>
              </a:rPr>
              <a:t>The dataset contains employee-related information including:</a:t>
            </a:r>
          </a:p>
          <a:p>
            <a:pPr marL="0" lvl="0" indent="0">
              <a:buNone/>
            </a:pPr>
            <a:r>
              <a:rPr lang="en-IN" sz="2000" b="1" dirty="0">
                <a:latin typeface="Times New Roman" panose="02020603050405020304" pitchFamily="18" charset="0"/>
                <a:cs typeface="Times New Roman" panose="02020603050405020304" pitchFamily="18" charset="0"/>
              </a:rPr>
              <a:t>     1. Employee ID</a:t>
            </a:r>
          </a:p>
          <a:p>
            <a:pPr marL="0" lvl="0" indent="0">
              <a:buNone/>
            </a:pPr>
            <a:r>
              <a:rPr lang="en-IN" sz="2000" b="1" dirty="0">
                <a:latin typeface="Times New Roman" panose="02020603050405020304" pitchFamily="18" charset="0"/>
                <a:cs typeface="Times New Roman" panose="02020603050405020304" pitchFamily="18" charset="0"/>
              </a:rPr>
              <a:t>     2.Age</a:t>
            </a:r>
          </a:p>
          <a:p>
            <a:pPr marL="0" lvl="0" indent="0">
              <a:buNone/>
            </a:pPr>
            <a:r>
              <a:rPr lang="en-IN" sz="2000" b="1" dirty="0">
                <a:latin typeface="Times New Roman" panose="02020603050405020304" pitchFamily="18" charset="0"/>
                <a:cs typeface="Times New Roman" panose="02020603050405020304" pitchFamily="18" charset="0"/>
              </a:rPr>
              <a:t>     3.Gender</a:t>
            </a:r>
          </a:p>
          <a:p>
            <a:pPr marL="0" lvl="0" indent="0">
              <a:buNone/>
            </a:pPr>
            <a:r>
              <a:rPr lang="en-IN" sz="2000" b="1" dirty="0">
                <a:latin typeface="Times New Roman" panose="02020603050405020304" pitchFamily="18" charset="0"/>
                <a:cs typeface="Times New Roman" panose="02020603050405020304" pitchFamily="18" charset="0"/>
              </a:rPr>
              <a:t>     4.Marital Status</a:t>
            </a:r>
          </a:p>
          <a:p>
            <a:pPr marL="0" lvl="0" indent="0">
              <a:buNone/>
            </a:pPr>
            <a:r>
              <a:rPr lang="en-IN" sz="2000" b="1" dirty="0">
                <a:latin typeface="Times New Roman" panose="02020603050405020304" pitchFamily="18" charset="0"/>
                <a:cs typeface="Times New Roman" panose="02020603050405020304" pitchFamily="18" charset="0"/>
              </a:rPr>
              <a:t>     5.Department</a:t>
            </a:r>
          </a:p>
          <a:p>
            <a:pPr marL="0" lvl="0" indent="0">
              <a:buNone/>
            </a:pPr>
            <a:r>
              <a:rPr lang="en-IN" sz="2000" b="1" dirty="0">
                <a:latin typeface="Times New Roman" panose="02020603050405020304" pitchFamily="18" charset="0"/>
                <a:cs typeface="Times New Roman" panose="02020603050405020304" pitchFamily="18" charset="0"/>
              </a:rPr>
              <a:t>     6.Job Role</a:t>
            </a:r>
          </a:p>
          <a:p>
            <a:pPr marL="0" lvl="0" indent="0">
              <a:buNone/>
            </a:pPr>
            <a:r>
              <a:rPr lang="en-IN" sz="2000" b="1" dirty="0">
                <a:latin typeface="Times New Roman" panose="02020603050405020304" pitchFamily="18" charset="0"/>
                <a:cs typeface="Times New Roman" panose="02020603050405020304" pitchFamily="18" charset="0"/>
              </a:rPr>
              <a:t>     7.Salary Group</a:t>
            </a:r>
          </a:p>
          <a:p>
            <a:pPr marL="0" lvl="0" indent="0">
              <a:buNone/>
            </a:pPr>
            <a:r>
              <a:rPr lang="en-IN" sz="2000" b="1" dirty="0">
                <a:latin typeface="Times New Roman" panose="02020603050405020304" pitchFamily="18" charset="0"/>
                <a:cs typeface="Times New Roman" panose="02020603050405020304" pitchFamily="18" charset="0"/>
              </a:rPr>
              <a:t>     8.Years at Company</a:t>
            </a:r>
          </a:p>
          <a:p>
            <a:pPr marL="0" lvl="0" indent="0">
              <a:buNone/>
            </a:pPr>
            <a:r>
              <a:rPr lang="en-IN" sz="2000" b="1" dirty="0">
                <a:latin typeface="Times New Roman" panose="02020603050405020304" pitchFamily="18" charset="0"/>
                <a:cs typeface="Times New Roman" panose="02020603050405020304" pitchFamily="18" charset="0"/>
              </a:rPr>
              <a:t>     9.Job Satisfaction</a:t>
            </a:r>
          </a:p>
          <a:p>
            <a:pPr marL="0" lvl="0" indent="0">
              <a:buNone/>
            </a:pPr>
            <a:r>
              <a:rPr lang="en-IN" sz="2000" b="1" dirty="0">
                <a:latin typeface="Times New Roman" panose="02020603050405020304" pitchFamily="18" charset="0"/>
                <a:cs typeface="Times New Roman" panose="02020603050405020304" pitchFamily="18" charset="0"/>
              </a:rPr>
              <a:t>    10.Education Field</a:t>
            </a:r>
          </a:p>
          <a:p>
            <a:pPr marL="0" lvl="0" indent="0">
              <a:buNone/>
            </a:pPr>
            <a:r>
              <a:rPr lang="en-IN" sz="2000" b="1" dirty="0">
                <a:latin typeface="Times New Roman" panose="02020603050405020304" pitchFamily="18" charset="0"/>
                <a:cs typeface="Times New Roman" panose="02020603050405020304" pitchFamily="18" charset="0"/>
              </a:rPr>
              <a:t>    11.Attrition Status</a:t>
            </a:r>
          </a:p>
          <a:p>
            <a:pPr marL="0" lvl="0" indent="0">
              <a:buNone/>
            </a:pPr>
            <a:r>
              <a:rPr lang="en-IN" sz="2000" b="1" dirty="0">
                <a:latin typeface="Times New Roman" panose="02020603050405020304" pitchFamily="18" charset="0"/>
                <a:cs typeface="Times New Roman" panose="02020603050405020304" pitchFamily="18" charset="0"/>
              </a:rPr>
              <a:t>The data helps in understanding employee demographics and work-related factors influencing attrition.</a:t>
            </a:r>
          </a:p>
        </p:txBody>
      </p:sp>
    </p:spTree>
  </p:cSld>
  <p:clrMapOvr>
    <a:masterClrMapping/>
  </p:clrMapOvr>
  <mc:AlternateContent xmlns:mc="http://schemas.openxmlformats.org/markup-compatibility/2006" xmlns:p14="http://schemas.microsoft.com/office/powerpoint/2010/main">
    <mc:Choice Requires="p14">
      <p:transition spd="med" advTm="3000">
        <p:newsflash/>
      </p:transition>
    </mc:Choice>
    <mc:Fallback xmlns="">
      <p:transition spd="med" advTm="3000">
        <p:newsflash/>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74638"/>
            <a:ext cx="8876872" cy="1143000"/>
          </a:xfrm>
        </p:spPr>
        <p:txBody>
          <a:bodyPr>
            <a:noAutofit/>
          </a:bodyPr>
          <a:lstStyle/>
          <a:p>
            <a:r>
              <a:rPr lang="en-IN" sz="3200" b="1" dirty="0">
                <a:latin typeface="Algerian" panose="04020705040A02060702" pitchFamily="82" charset="0"/>
              </a:rPr>
              <a:t>TECHNOLOGY USED &amp; DATA TRANSFORMATION STEPS</a:t>
            </a:r>
            <a:endParaRPr lang="en-IN" sz="3200" dirty="0">
              <a:latin typeface="Algerian" panose="04020705040A02060702" pitchFamily="82" charset="0"/>
            </a:endParaRPr>
          </a:p>
        </p:txBody>
      </p:sp>
      <p:sp>
        <p:nvSpPr>
          <p:cNvPr id="3" name="Content Placeholder 2"/>
          <p:cNvSpPr>
            <a:spLocks noGrp="1"/>
          </p:cNvSpPr>
          <p:nvPr>
            <p:ph idx="1"/>
          </p:nvPr>
        </p:nvSpPr>
        <p:spPr>
          <a:xfrm>
            <a:off x="457200" y="1600200"/>
            <a:ext cx="8229600" cy="4983162"/>
          </a:xfrm>
        </p:spPr>
        <p:txBody>
          <a:bodyPr>
            <a:normAutofit fontScale="92500" lnSpcReduction="10000"/>
          </a:bodyPr>
          <a:lstStyle/>
          <a:p>
            <a:pPr>
              <a:buFont typeface="Wingdings" panose="05000000000000000000" pitchFamily="2" charset="2"/>
              <a:buChar char="Ø"/>
            </a:pPr>
            <a:r>
              <a:rPr lang="en-IN" sz="2600" b="1" dirty="0">
                <a:latin typeface="Times New Roman" panose="02020603050405020304" pitchFamily="18" charset="0"/>
                <a:cs typeface="Times New Roman" panose="02020603050405020304" pitchFamily="18" charset="0"/>
              </a:rPr>
              <a:t>Technology Used</a:t>
            </a:r>
          </a:p>
          <a:p>
            <a:pPr marL="0" indent="0">
              <a:buNone/>
            </a:pPr>
            <a:endParaRPr lang="en-IN" sz="2400" b="1" dirty="0">
              <a:latin typeface="Times New Roman" panose="02020603050405020304" pitchFamily="18" charset="0"/>
              <a:cs typeface="Times New Roman" panose="02020603050405020304" pitchFamily="18" charset="0"/>
            </a:endParaRPr>
          </a:p>
          <a:p>
            <a:pPr lvl="1">
              <a:buFont typeface="Arial" panose="020B0604020202020204" pitchFamily="34" charset="0"/>
              <a:buChar char="•"/>
            </a:pPr>
            <a:r>
              <a:rPr lang="en-IN" sz="2200" b="1" dirty="0">
                <a:latin typeface="Times New Roman" panose="02020603050405020304" pitchFamily="18" charset="0"/>
                <a:cs typeface="Times New Roman" panose="02020603050405020304" pitchFamily="18" charset="0"/>
              </a:rPr>
              <a:t>Power BI – Dashboard creation and data visualization</a:t>
            </a:r>
          </a:p>
          <a:p>
            <a:pPr lvl="1">
              <a:buFont typeface="Arial" panose="020B0604020202020204" pitchFamily="34" charset="0"/>
              <a:buChar char="•"/>
            </a:pPr>
            <a:r>
              <a:rPr lang="en-IN" sz="2200" b="1" dirty="0">
                <a:latin typeface="Times New Roman" panose="02020603050405020304" pitchFamily="18" charset="0"/>
                <a:cs typeface="Times New Roman" panose="02020603050405020304" pitchFamily="18" charset="0"/>
              </a:rPr>
              <a:t>Microsoft Excel – Data cleaning and </a:t>
            </a:r>
            <a:r>
              <a:rPr lang="en-IN" sz="2200" b="1" dirty="0" err="1">
                <a:latin typeface="Times New Roman" panose="02020603050405020304" pitchFamily="18" charset="0"/>
                <a:cs typeface="Times New Roman" panose="02020603050405020304" pitchFamily="18" charset="0"/>
              </a:rPr>
              <a:t>preprocessing</a:t>
            </a:r>
            <a:endParaRPr lang="en-IN" sz="2200" b="1" dirty="0">
              <a:latin typeface="Times New Roman" panose="02020603050405020304" pitchFamily="18" charset="0"/>
              <a:cs typeface="Times New Roman" panose="02020603050405020304" pitchFamily="18" charset="0"/>
            </a:endParaRPr>
          </a:p>
          <a:p>
            <a:pPr marL="0" lvl="0" indent="0">
              <a:buNone/>
            </a:pPr>
            <a:endParaRPr lang="en-IN" sz="2200" b="1"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IN" sz="2600" b="1" dirty="0">
                <a:latin typeface="Times New Roman" panose="02020603050405020304" pitchFamily="18" charset="0"/>
                <a:cs typeface="Times New Roman" panose="02020603050405020304" pitchFamily="18" charset="0"/>
              </a:rPr>
              <a:t>Data Transformation Steps in Power BI</a:t>
            </a:r>
          </a:p>
          <a:p>
            <a:pPr marL="0" indent="0">
              <a:buNone/>
            </a:pPr>
            <a:endParaRPr lang="en-IN" sz="2400" b="1" dirty="0">
              <a:latin typeface="Times New Roman" panose="02020603050405020304" pitchFamily="18" charset="0"/>
              <a:cs typeface="Times New Roman" panose="02020603050405020304" pitchFamily="18" charset="0"/>
            </a:endParaRPr>
          </a:p>
          <a:p>
            <a:pPr lvl="1">
              <a:buFont typeface="Arial" panose="020B0604020202020204" pitchFamily="34" charset="0"/>
              <a:buChar char="•"/>
            </a:pPr>
            <a:r>
              <a:rPr lang="en-IN" sz="2200" b="1" dirty="0">
                <a:latin typeface="Times New Roman" panose="02020603050405020304" pitchFamily="18" charset="0"/>
                <a:cs typeface="Times New Roman" panose="02020603050405020304" pitchFamily="18" charset="0"/>
              </a:rPr>
              <a:t>Removed duplicate records</a:t>
            </a:r>
          </a:p>
          <a:p>
            <a:pPr lvl="1">
              <a:buFont typeface="Arial" panose="020B0604020202020204" pitchFamily="34" charset="0"/>
              <a:buChar char="•"/>
            </a:pPr>
            <a:r>
              <a:rPr lang="en-IN" sz="2200" b="1" dirty="0">
                <a:latin typeface="Times New Roman" panose="02020603050405020304" pitchFamily="18" charset="0"/>
                <a:cs typeface="Times New Roman" panose="02020603050405020304" pitchFamily="18" charset="0"/>
              </a:rPr>
              <a:t>Handled missing and null values</a:t>
            </a:r>
          </a:p>
          <a:p>
            <a:pPr lvl="1">
              <a:buFont typeface="Arial" panose="020B0604020202020204" pitchFamily="34" charset="0"/>
              <a:buChar char="•"/>
            </a:pPr>
            <a:r>
              <a:rPr lang="en-IN" sz="2200" b="1" dirty="0">
                <a:latin typeface="Times New Roman" panose="02020603050405020304" pitchFamily="18" charset="0"/>
                <a:cs typeface="Times New Roman" panose="02020603050405020304" pitchFamily="18" charset="0"/>
              </a:rPr>
              <a:t>Converted data types (text, numeric, date)</a:t>
            </a:r>
          </a:p>
          <a:p>
            <a:pPr lvl="1">
              <a:buFont typeface="Arial" panose="020B0604020202020204" pitchFamily="34" charset="0"/>
              <a:buChar char="•"/>
            </a:pPr>
            <a:r>
              <a:rPr lang="en-IN" sz="2200" b="1" dirty="0">
                <a:latin typeface="Times New Roman" panose="02020603050405020304" pitchFamily="18" charset="0"/>
                <a:cs typeface="Times New Roman" panose="02020603050405020304" pitchFamily="18" charset="0"/>
              </a:rPr>
              <a:t>Created calculated columns for attrition count</a:t>
            </a:r>
          </a:p>
          <a:p>
            <a:pPr lvl="1">
              <a:buFont typeface="Arial" panose="020B0604020202020204" pitchFamily="34" charset="0"/>
              <a:buChar char="•"/>
            </a:pPr>
            <a:r>
              <a:rPr lang="en-IN" sz="2200" b="1" dirty="0">
                <a:latin typeface="Times New Roman" panose="02020603050405020304" pitchFamily="18" charset="0"/>
                <a:cs typeface="Times New Roman" panose="02020603050405020304" pitchFamily="18" charset="0"/>
              </a:rPr>
              <a:t>Grouped salary, age, and years at company into ranges</a:t>
            </a:r>
          </a:p>
          <a:p>
            <a:pPr lvl="1">
              <a:buFont typeface="Arial" panose="020B0604020202020204" pitchFamily="34" charset="0"/>
              <a:buChar char="•"/>
            </a:pPr>
            <a:r>
              <a:rPr lang="en-IN" sz="2200" b="1" dirty="0">
                <a:latin typeface="Times New Roman" panose="02020603050405020304" pitchFamily="18" charset="0"/>
                <a:cs typeface="Times New Roman" panose="02020603050405020304" pitchFamily="18" charset="0"/>
              </a:rPr>
              <a:t>Renamed columns for better clarity</a:t>
            </a:r>
            <a:endParaRPr sz="2200" b="1"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slow" p14:dur="1500" advTm="3000">
        <p14:ripple/>
      </p:transition>
    </mc:Choice>
    <mc:Fallback xmlns="">
      <p:transition spd="slow" advTm="3000">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latin typeface="Algerian" panose="04020705040A02060702" pitchFamily="82" charset="0"/>
              </a:rPr>
              <a:t> DATA MODELING</a:t>
            </a:r>
            <a:endParaRPr lang="en-IN" dirty="0">
              <a:latin typeface="Algerian" panose="04020705040A02060702" pitchFamily="82" charset="0"/>
            </a:endParaRPr>
          </a:p>
        </p:txBody>
      </p:sp>
      <p:sp>
        <p:nvSpPr>
          <p:cNvPr id="3" name="Content Placeholder 2"/>
          <p:cNvSpPr>
            <a:spLocks noGrp="1"/>
          </p:cNvSpPr>
          <p:nvPr>
            <p:ph idx="1"/>
          </p:nvPr>
        </p:nvSpPr>
        <p:spPr/>
        <p:txBody>
          <a:bodyPr>
            <a:normAutofit/>
          </a:bodyPr>
          <a:lstStyle/>
          <a:p>
            <a:pPr marL="0" indent="0">
              <a:buNone/>
            </a:pPr>
            <a:endParaRPr sz="2000" b="1" dirty="0">
              <a:latin typeface="Arial Black" panose="020B0A04020102020204" pitchFamily="34" charset="0"/>
              <a:cs typeface="Arial Black" panose="020B0A04020102020204" charset="0"/>
            </a:endParaRPr>
          </a:p>
          <a:p>
            <a:pPr lvl="0"/>
            <a:r>
              <a:rPr lang="en-IN" sz="2400" b="1" dirty="0">
                <a:latin typeface="Times New Roman" panose="02020603050405020304" pitchFamily="18" charset="0"/>
                <a:cs typeface="Times New Roman" panose="02020603050405020304" pitchFamily="18" charset="0"/>
              </a:rPr>
              <a:t>A star schema was created for efficient analysis</a:t>
            </a:r>
          </a:p>
          <a:p>
            <a:pPr lvl="0"/>
            <a:r>
              <a:rPr lang="en-IN" sz="2400" b="1" dirty="0">
                <a:latin typeface="Times New Roman" panose="02020603050405020304" pitchFamily="18" charset="0"/>
                <a:cs typeface="Times New Roman" panose="02020603050405020304" pitchFamily="18" charset="0"/>
              </a:rPr>
              <a:t>Fact table contains employee records and attrition status</a:t>
            </a:r>
          </a:p>
          <a:p>
            <a:pPr lvl="0"/>
            <a:r>
              <a:rPr lang="en-IN" sz="2400" b="1" dirty="0">
                <a:latin typeface="Times New Roman" panose="02020603050405020304" pitchFamily="18" charset="0"/>
                <a:cs typeface="Times New Roman" panose="02020603050405020304" pitchFamily="18" charset="0"/>
              </a:rPr>
              <a:t>Dimension tables include age group, job role, department, and education field</a:t>
            </a:r>
          </a:p>
          <a:p>
            <a:pPr lvl="0"/>
            <a:r>
              <a:rPr lang="en-IN" sz="2400" b="1" dirty="0">
                <a:latin typeface="Times New Roman" panose="02020603050405020304" pitchFamily="18" charset="0"/>
                <a:cs typeface="Times New Roman" panose="02020603050405020304" pitchFamily="18" charset="0"/>
              </a:rPr>
              <a:t>Relationships were established using employee ID and category fields</a:t>
            </a:r>
          </a:p>
          <a:p>
            <a:pPr lvl="0"/>
            <a:r>
              <a:rPr lang="en-IN" sz="2400" b="1" dirty="0">
                <a:latin typeface="Times New Roman" panose="02020603050405020304" pitchFamily="18" charset="0"/>
                <a:cs typeface="Times New Roman" panose="02020603050405020304" pitchFamily="18" charset="0"/>
              </a:rPr>
              <a:t>Measures were created using DAX to calculate attrition count, active employees, and attrition rate</a:t>
            </a:r>
          </a:p>
        </p:txBody>
      </p:sp>
    </p:spTree>
  </p:cSld>
  <p:clrMapOvr>
    <a:masterClrMapping/>
  </p:clrMapOvr>
  <mc:AlternateContent xmlns:mc="http://schemas.openxmlformats.org/markup-compatibility/2006" xmlns:p14="http://schemas.microsoft.com/office/powerpoint/2010/main">
    <mc:Choice Requires="p14">
      <p:transition spd="med" advTm="3000">
        <p:pull/>
      </p:transition>
    </mc:Choice>
    <mc:Fallback xmlns="">
      <p:transition spd="med" advTm="3000">
        <p:pull/>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latin typeface="Algerian" panose="04020705040A02060702" pitchFamily="82" charset="0"/>
              </a:rPr>
              <a:t>KPI SUMMARY</a:t>
            </a:r>
            <a:endParaRPr lang="en-IN" dirty="0">
              <a:latin typeface="Algerian" panose="04020705040A02060702" pitchFamily="82" charset="0"/>
            </a:endParaRPr>
          </a:p>
        </p:txBody>
      </p:sp>
      <p:sp>
        <p:nvSpPr>
          <p:cNvPr id="3" name="Content Placeholder 2"/>
          <p:cNvSpPr>
            <a:spLocks noGrp="1"/>
          </p:cNvSpPr>
          <p:nvPr>
            <p:ph idx="1"/>
          </p:nvPr>
        </p:nvSpPr>
        <p:spPr>
          <a:xfrm>
            <a:off x="457200" y="1600200"/>
            <a:ext cx="8229600" cy="4983162"/>
          </a:xfrm>
        </p:spPr>
        <p:txBody>
          <a:bodyPr>
            <a:normAutofit/>
          </a:bodyPr>
          <a:lstStyle/>
          <a:p>
            <a:pPr marL="0" indent="0">
              <a:buNone/>
            </a:pPr>
            <a:r>
              <a:rPr lang="en-IN" sz="2400" b="1" dirty="0">
                <a:latin typeface="Times New Roman" panose="02020603050405020304" pitchFamily="18" charset="0"/>
                <a:cs typeface="Times New Roman" panose="02020603050405020304" pitchFamily="18" charset="0"/>
              </a:rPr>
              <a:t>Key Performance Indicators used in the dashboard:</a:t>
            </a:r>
          </a:p>
          <a:p>
            <a:pPr marL="0" indent="0">
              <a:buNone/>
            </a:pPr>
            <a:endParaRPr lang="en-IN" sz="2400" b="1" dirty="0">
              <a:latin typeface="Times New Roman" panose="02020603050405020304" pitchFamily="18" charset="0"/>
              <a:cs typeface="Times New Roman" panose="02020603050405020304" pitchFamily="18" charset="0"/>
            </a:endParaRPr>
          </a:p>
          <a:p>
            <a:pPr lvl="1">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Total Employees</a:t>
            </a:r>
          </a:p>
          <a:p>
            <a:pPr lvl="1">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Total Attrition Count</a:t>
            </a:r>
          </a:p>
          <a:p>
            <a:pPr lvl="1">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Active Employees</a:t>
            </a:r>
          </a:p>
          <a:p>
            <a:pPr lvl="1">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Attrition Rate (%)</a:t>
            </a:r>
          </a:p>
          <a:p>
            <a:pPr lvl="1">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Department-wise Attrition</a:t>
            </a:r>
          </a:p>
          <a:p>
            <a:pPr lvl="1">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Job Role-wise Attrition</a:t>
            </a:r>
          </a:p>
          <a:p>
            <a:pPr marL="457200" lvl="1" indent="0">
              <a:buNone/>
            </a:pPr>
            <a:endParaRPr lang="en-IN" sz="2000" b="1" dirty="0">
              <a:latin typeface="Times New Roman" panose="02020603050405020304" pitchFamily="18" charset="0"/>
              <a:cs typeface="Times New Roman" panose="02020603050405020304" pitchFamily="18" charset="0"/>
            </a:endParaRPr>
          </a:p>
          <a:p>
            <a:pPr marL="0" indent="0">
              <a:buNone/>
            </a:pPr>
            <a:r>
              <a:rPr lang="en-IN" sz="2400" b="1" dirty="0">
                <a:latin typeface="Times New Roman" panose="02020603050405020304" pitchFamily="18" charset="0"/>
                <a:cs typeface="Times New Roman" panose="02020603050405020304" pitchFamily="18" charset="0"/>
              </a:rPr>
              <a:t>These KPIs provide a quick overview of employee attrition trends.</a:t>
            </a:r>
          </a:p>
        </p:txBody>
      </p:sp>
    </p:spTree>
  </p:cSld>
  <p:clrMapOvr>
    <a:masterClrMapping/>
  </p:clrMapOvr>
  <mc:AlternateContent xmlns:mc="http://schemas.openxmlformats.org/markup-compatibility/2006" xmlns:p14="http://schemas.microsoft.com/office/powerpoint/2010/main">
    <mc:Choice Requires="p14">
      <p:transition spd="slow" p14:dur="1500" advTm="3000">
        <p:split orient="vert" dir="in"/>
      </p:transition>
    </mc:Choice>
    <mc:Fallback xmlns="">
      <p:transition spd="slow" advTm="3000">
        <p:split orient="vert" dir="in"/>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274638"/>
            <a:ext cx="7864868" cy="1584984"/>
          </a:xfrm>
        </p:spPr>
        <p:txBody>
          <a:bodyPr>
            <a:normAutofit/>
          </a:bodyPr>
          <a:lstStyle/>
          <a:p>
            <a:r>
              <a:rPr lang="en-IN" sz="4000" b="1" dirty="0">
                <a:latin typeface="Algerian" panose="04020705040A02060702" pitchFamily="82" charset="0"/>
              </a:rPr>
              <a:t>  CHARTS USED IN THE DASHBOARD</a:t>
            </a:r>
            <a:endParaRPr lang="en-IN" sz="4000" dirty="0">
              <a:latin typeface="Algerian" panose="04020705040A02060702" pitchFamily="82" charset="0"/>
            </a:endParaRPr>
          </a:p>
        </p:txBody>
      </p:sp>
      <p:sp>
        <p:nvSpPr>
          <p:cNvPr id="3" name="Content Placeholder 2"/>
          <p:cNvSpPr>
            <a:spLocks noGrp="1"/>
          </p:cNvSpPr>
          <p:nvPr>
            <p:ph idx="1"/>
          </p:nvPr>
        </p:nvSpPr>
        <p:spPr>
          <a:xfrm>
            <a:off x="133564" y="1972638"/>
            <a:ext cx="8743308" cy="4610724"/>
          </a:xfrm>
        </p:spPr>
        <p:txBody>
          <a:bodyPr>
            <a:normAutofit/>
          </a:bodyPr>
          <a:lstStyle/>
          <a:p>
            <a:pPr lvl="1">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Card Visuals – Total employees, attrition, active    employees</a:t>
            </a:r>
          </a:p>
          <a:p>
            <a:pPr lvl="1">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Bar Chart – Attrition by job role and age group</a:t>
            </a:r>
          </a:p>
          <a:p>
            <a:pPr lvl="1">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Line Chart – Attrition by years at company</a:t>
            </a:r>
          </a:p>
          <a:p>
            <a:pPr lvl="1">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Donut Chart – Attrition by education field</a:t>
            </a:r>
          </a:p>
          <a:p>
            <a:pPr lvl="1">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Column Chart – Attrition by salary group</a:t>
            </a:r>
          </a:p>
          <a:p>
            <a:pPr lvl="1">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Slicers – Gender, marital status, department</a:t>
            </a:r>
          </a:p>
          <a:p>
            <a:pPr marL="0" indent="0">
              <a:buNone/>
            </a:pPr>
            <a:endParaRPr lang="en-IN" sz="2800" b="1" dirty="0">
              <a:latin typeface="Times New Roman" panose="02020603050405020304" pitchFamily="18" charset="0"/>
              <a:cs typeface="Times New Roman" panose="02020603050405020304" pitchFamily="18" charset="0"/>
            </a:endParaRPr>
          </a:p>
          <a:p>
            <a:pPr marL="0" indent="0">
              <a:buNone/>
            </a:pPr>
            <a:r>
              <a:rPr lang="en-IN" sz="2800" b="1" dirty="0">
                <a:latin typeface="Times New Roman" panose="02020603050405020304" pitchFamily="18" charset="0"/>
                <a:cs typeface="Times New Roman" panose="02020603050405020304" pitchFamily="18" charset="0"/>
              </a:rPr>
              <a:t>These visuals help in identifying trends and patterns easily.</a:t>
            </a:r>
          </a:p>
        </p:txBody>
      </p:sp>
    </p:spTree>
  </p:cSld>
  <p:clrMapOvr>
    <a:masterClrMapping/>
  </p:clrMapOvr>
  <mc:AlternateContent xmlns:mc="http://schemas.openxmlformats.org/markup-compatibility/2006" xmlns:p14="http://schemas.microsoft.com/office/powerpoint/2010/main">
    <mc:Choice Requires="p14">
      <p:transition spd="slow" advTm="3000">
        <p:randomBar dir="vert"/>
      </p:transition>
    </mc:Choice>
    <mc:Fallback xmlns="">
      <p:transition spd="slow" advTm="3000">
        <p:randomBar dir="vert"/>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68718"/>
          </a:xfrm>
        </p:spPr>
        <p:txBody>
          <a:bodyPr>
            <a:noAutofit/>
          </a:bodyPr>
          <a:lstStyle/>
          <a:p>
            <a:r>
              <a:rPr lang="en-IN" sz="3200" b="1" dirty="0">
                <a:latin typeface="Algerian" panose="04020705040A02060702" pitchFamily="82" charset="0"/>
              </a:rPr>
              <a:t>TEN PROBLEM STATEMENT QUESTIONS WITH EXPLANATIONS </a:t>
            </a:r>
            <a:r>
              <a:rPr sz="3200" b="1" dirty="0">
                <a:latin typeface="Algerian" panose="04020705040A02060702" pitchFamily="82" charset="0"/>
                <a:cs typeface="Algerian" panose="04020705040A02060702" charset="0"/>
              </a:rPr>
              <a:t>e Example</a:t>
            </a:r>
          </a:p>
        </p:txBody>
      </p:sp>
      <p:sp>
        <p:nvSpPr>
          <p:cNvPr id="3" name="Content Placeholder 2"/>
          <p:cNvSpPr>
            <a:spLocks noGrp="1"/>
          </p:cNvSpPr>
          <p:nvPr>
            <p:ph idx="1"/>
          </p:nvPr>
        </p:nvSpPr>
        <p:spPr>
          <a:xfrm>
            <a:off x="1" y="1443355"/>
            <a:ext cx="9144000" cy="5234847"/>
          </a:xfrm>
        </p:spPr>
        <p:txBody>
          <a:bodyPr>
            <a:noAutofit/>
          </a:bodyPr>
          <a:lstStyle/>
          <a:p>
            <a:pPr marL="457200" lvl="1" indent="0">
              <a:buNone/>
            </a:pPr>
            <a:r>
              <a:rPr lang="en-IN" sz="1800" b="1" dirty="0">
                <a:latin typeface="Times New Roman" panose="02020603050405020304" pitchFamily="18" charset="0"/>
                <a:cs typeface="Times New Roman" panose="02020603050405020304" pitchFamily="18" charset="0"/>
              </a:rPr>
              <a:t>1)   </a:t>
            </a:r>
            <a:r>
              <a:rPr lang="en-IN" sz="2000" b="1" dirty="0">
                <a:latin typeface="Times New Roman" panose="02020603050405020304" pitchFamily="18" charset="0"/>
                <a:cs typeface="Times New Roman" panose="02020603050405020304" pitchFamily="18" charset="0"/>
              </a:rPr>
              <a:t>Why is employee attrition high in the organization?</a:t>
            </a:r>
            <a:br>
              <a:rPr lang="en-IN" sz="2000" b="1" dirty="0">
                <a:latin typeface="Times New Roman" panose="02020603050405020304" pitchFamily="18" charset="0"/>
                <a:cs typeface="Times New Roman" panose="02020603050405020304" pitchFamily="18" charset="0"/>
              </a:rPr>
            </a:br>
            <a:r>
              <a:rPr lang="en-IN" sz="2000" b="1" dirty="0">
                <a:latin typeface="Times New Roman" panose="02020603050405020304" pitchFamily="18" charset="0"/>
                <a:cs typeface="Times New Roman" panose="02020603050405020304" pitchFamily="18" charset="0"/>
              </a:rPr>
              <a:t>       Attrition is high due to factors like low salary, job dissatisfaction, and     	limited career growth. </a:t>
            </a:r>
          </a:p>
          <a:p>
            <a:pPr marL="457200" lvl="1" indent="0">
              <a:buNone/>
            </a:pPr>
            <a:endParaRPr lang="en-IN" sz="2000" b="1" dirty="0">
              <a:latin typeface="Times New Roman" panose="02020603050405020304" pitchFamily="18" charset="0"/>
              <a:cs typeface="Times New Roman" panose="02020603050405020304" pitchFamily="18" charset="0"/>
            </a:endParaRPr>
          </a:p>
          <a:p>
            <a:pPr marL="800100" lvl="1" indent="-342900">
              <a:buAutoNum type="arabicParenR" startAt="2"/>
            </a:pPr>
            <a:r>
              <a:rPr lang="en-IN" sz="2000" b="1" dirty="0">
                <a:latin typeface="Times New Roman" panose="02020603050405020304" pitchFamily="18" charset="0"/>
                <a:cs typeface="Times New Roman" panose="02020603050405020304" pitchFamily="18" charset="0"/>
              </a:rPr>
              <a:t>Which age group shows the highest attrition?</a:t>
            </a:r>
            <a:br>
              <a:rPr lang="en-IN" sz="2000" b="1" dirty="0">
                <a:latin typeface="Times New Roman" panose="02020603050405020304" pitchFamily="18" charset="0"/>
                <a:cs typeface="Times New Roman" panose="02020603050405020304" pitchFamily="18" charset="0"/>
              </a:rPr>
            </a:br>
            <a:r>
              <a:rPr lang="en-IN" sz="2000" b="1" dirty="0">
                <a:latin typeface="Times New Roman" panose="02020603050405020304" pitchFamily="18" charset="0"/>
                <a:cs typeface="Times New Roman" panose="02020603050405020304" pitchFamily="18" charset="0"/>
              </a:rPr>
              <a:t> Employees aged 26–35 show higher attrition due to career transitions.</a:t>
            </a:r>
          </a:p>
          <a:p>
            <a:pPr marL="457200" lvl="1" indent="0">
              <a:buNone/>
            </a:pPr>
            <a:endParaRPr lang="en-IN" sz="2000" b="1" dirty="0">
              <a:latin typeface="Times New Roman" panose="02020603050405020304" pitchFamily="18" charset="0"/>
              <a:cs typeface="Times New Roman" panose="02020603050405020304" pitchFamily="18" charset="0"/>
            </a:endParaRPr>
          </a:p>
          <a:p>
            <a:pPr marL="800100" lvl="1" indent="-342900">
              <a:buAutoNum type="arabicParenR" startAt="3"/>
            </a:pPr>
            <a:r>
              <a:rPr lang="en-IN" sz="2000" b="1" dirty="0">
                <a:latin typeface="Times New Roman" panose="02020603050405020304" pitchFamily="18" charset="0"/>
                <a:cs typeface="Times New Roman" panose="02020603050405020304" pitchFamily="18" charset="0"/>
              </a:rPr>
              <a:t>How does salary impact attrition?</a:t>
            </a:r>
            <a:br>
              <a:rPr lang="en-IN" sz="2000" b="1" dirty="0">
                <a:latin typeface="Times New Roman" panose="02020603050405020304" pitchFamily="18" charset="0"/>
                <a:cs typeface="Times New Roman" panose="02020603050405020304" pitchFamily="18" charset="0"/>
              </a:rPr>
            </a:br>
            <a:r>
              <a:rPr lang="en-IN" sz="2000" b="1" dirty="0">
                <a:latin typeface="Times New Roman" panose="02020603050405020304" pitchFamily="18" charset="0"/>
                <a:cs typeface="Times New Roman" panose="02020603050405020304" pitchFamily="18" charset="0"/>
              </a:rPr>
              <a:t>Lower salary groups have higher attrition rates.</a:t>
            </a:r>
          </a:p>
          <a:p>
            <a:pPr marL="457200" lvl="1" indent="0">
              <a:buNone/>
            </a:pPr>
            <a:endParaRPr lang="en-IN" sz="2000" b="1" dirty="0">
              <a:latin typeface="Times New Roman" panose="02020603050405020304" pitchFamily="18" charset="0"/>
              <a:cs typeface="Times New Roman" panose="02020603050405020304" pitchFamily="18" charset="0"/>
            </a:endParaRPr>
          </a:p>
          <a:p>
            <a:pPr marL="800100" lvl="1" indent="-342900">
              <a:buAutoNum type="arabicParenR" startAt="4"/>
            </a:pPr>
            <a:r>
              <a:rPr lang="en-IN" sz="2000" b="1" dirty="0">
                <a:latin typeface="Times New Roman" panose="02020603050405020304" pitchFamily="18" charset="0"/>
                <a:cs typeface="Times New Roman" panose="02020603050405020304" pitchFamily="18" charset="0"/>
              </a:rPr>
              <a:t>Which job roles experience the most attrition?  Sales Executive and Research Scientist roles show higher attrition.</a:t>
            </a:r>
          </a:p>
          <a:p>
            <a:pPr marL="457200" lvl="1" indent="0">
              <a:buNone/>
            </a:pPr>
            <a:endParaRPr lang="en-IN" sz="2000" b="1" dirty="0">
              <a:latin typeface="Times New Roman" panose="02020603050405020304" pitchFamily="18" charset="0"/>
              <a:cs typeface="Times New Roman" panose="02020603050405020304" pitchFamily="18" charset="0"/>
            </a:endParaRPr>
          </a:p>
          <a:p>
            <a:pPr marL="457200" lvl="1" indent="0">
              <a:buNone/>
            </a:pPr>
            <a:r>
              <a:rPr lang="en-IN" sz="2000" b="1" dirty="0">
                <a:latin typeface="Times New Roman" panose="02020603050405020304" pitchFamily="18" charset="0"/>
                <a:cs typeface="Times New Roman" panose="02020603050405020304" pitchFamily="18" charset="0"/>
              </a:rPr>
              <a:t>5)   Does job satisfaction affect attrition?</a:t>
            </a:r>
            <a:br>
              <a:rPr lang="en-IN" sz="2000" b="1" dirty="0">
                <a:latin typeface="Times New Roman" panose="02020603050405020304" pitchFamily="18" charset="0"/>
                <a:cs typeface="Times New Roman" panose="02020603050405020304" pitchFamily="18" charset="0"/>
              </a:rPr>
            </a:br>
            <a:r>
              <a:rPr lang="en-IN" sz="2000" b="1" dirty="0">
                <a:latin typeface="Times New Roman" panose="02020603050405020304" pitchFamily="18" charset="0"/>
                <a:cs typeface="Times New Roman" panose="02020603050405020304" pitchFamily="18" charset="0"/>
              </a:rPr>
              <a:t>      Yes, low job satisfaction leads to higher attrition.</a:t>
            </a:r>
          </a:p>
          <a:p>
            <a:pPr marL="971550" lvl="1" indent="-514350">
              <a:buFont typeface="+mj-lt"/>
              <a:buAutoNum type="arabicParenR"/>
            </a:pPr>
            <a:endParaRPr lang="en-IN" sz="1800" b="1"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Tm="3000">
        <p15:prstTrans prst="pageCurlDouble"/>
      </p:transition>
    </mc:Choice>
    <mc:Fallback xmlns="">
      <p:transition spd="slow" advTm="3000">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84935" y="267128"/>
            <a:ext cx="8959065" cy="6113124"/>
          </a:xfrm>
        </p:spPr>
        <p:txBody>
          <a:bodyPr>
            <a:noAutofit/>
          </a:bodyPr>
          <a:lstStyle/>
          <a:p>
            <a:pPr marL="0" lvl="0" indent="0">
              <a:buNone/>
            </a:pPr>
            <a:r>
              <a:rPr lang="en-IN" sz="2400" b="1" dirty="0">
                <a:latin typeface="Times New Roman" panose="02020603050405020304" pitchFamily="18" charset="0"/>
                <a:cs typeface="Times New Roman" panose="02020603050405020304" pitchFamily="18" charset="0"/>
              </a:rPr>
              <a:t>	 6)  How does years at company influence attrition?</a:t>
            </a:r>
            <a:br>
              <a:rPr lang="en-IN" sz="2400" b="1" dirty="0">
                <a:latin typeface="Times New Roman" panose="02020603050405020304" pitchFamily="18" charset="0"/>
                <a:cs typeface="Times New Roman" panose="02020603050405020304" pitchFamily="18" charset="0"/>
              </a:rPr>
            </a:br>
            <a:r>
              <a:rPr lang="en-IN" sz="2400" b="1" dirty="0">
                <a:latin typeface="Times New Roman" panose="02020603050405020304" pitchFamily="18" charset="0"/>
                <a:cs typeface="Times New Roman" panose="02020603050405020304" pitchFamily="18" charset="0"/>
              </a:rPr>
              <a:t>	        Attrition is highest in the first 1–3 years.</a:t>
            </a:r>
          </a:p>
          <a:p>
            <a:pPr marL="0" indent="0">
              <a:buNone/>
            </a:pPr>
            <a:r>
              <a:rPr lang="en-IN" sz="2400" b="1" dirty="0">
                <a:latin typeface="Times New Roman" panose="02020603050405020304" pitchFamily="18" charset="0"/>
                <a:cs typeface="Times New Roman" panose="02020603050405020304" pitchFamily="18" charset="0"/>
              </a:rPr>
              <a:t> </a:t>
            </a:r>
          </a:p>
          <a:p>
            <a:pPr marL="0" lvl="0" indent="0">
              <a:buNone/>
            </a:pPr>
            <a:r>
              <a:rPr lang="en-IN" sz="2400" b="1" dirty="0">
                <a:latin typeface="Times New Roman" panose="02020603050405020304" pitchFamily="18" charset="0"/>
                <a:cs typeface="Times New Roman" panose="02020603050405020304" pitchFamily="18" charset="0"/>
              </a:rPr>
              <a:t>	7)   Which department has the highest attrition?</a:t>
            </a:r>
            <a:br>
              <a:rPr lang="en-IN" sz="2400" b="1" dirty="0">
                <a:latin typeface="Times New Roman" panose="02020603050405020304" pitchFamily="18" charset="0"/>
                <a:cs typeface="Times New Roman" panose="02020603050405020304" pitchFamily="18" charset="0"/>
              </a:rPr>
            </a:br>
            <a:r>
              <a:rPr lang="en-IN" sz="2400" b="1" dirty="0">
                <a:latin typeface="Times New Roman" panose="02020603050405020304" pitchFamily="18" charset="0"/>
                <a:cs typeface="Times New Roman" panose="02020603050405020304" pitchFamily="18" charset="0"/>
              </a:rPr>
              <a:t>	       Sales and Research departments show higher attrition.</a:t>
            </a:r>
          </a:p>
          <a:p>
            <a:pPr marL="0" lvl="0" indent="0">
              <a:buNone/>
            </a:pPr>
            <a:endParaRPr lang="en-IN" sz="2400" b="1" dirty="0">
              <a:latin typeface="Times New Roman" panose="02020603050405020304" pitchFamily="18" charset="0"/>
              <a:cs typeface="Times New Roman" panose="02020603050405020304" pitchFamily="18" charset="0"/>
            </a:endParaRPr>
          </a:p>
          <a:p>
            <a:pPr marL="0" lvl="0" indent="0">
              <a:buNone/>
            </a:pPr>
            <a:r>
              <a:rPr lang="en-IN" sz="2400" b="1" dirty="0">
                <a:latin typeface="Times New Roman" panose="02020603050405020304" pitchFamily="18" charset="0"/>
                <a:cs typeface="Times New Roman" panose="02020603050405020304" pitchFamily="18" charset="0"/>
              </a:rPr>
              <a:t>	8)   Does education field impact attrition?</a:t>
            </a:r>
            <a:br>
              <a:rPr lang="en-IN" sz="2400" b="1" dirty="0">
                <a:latin typeface="Times New Roman" panose="02020603050405020304" pitchFamily="18" charset="0"/>
                <a:cs typeface="Times New Roman" panose="02020603050405020304" pitchFamily="18" charset="0"/>
              </a:rPr>
            </a:br>
            <a:r>
              <a:rPr lang="en-IN" sz="2400" b="1" dirty="0">
                <a:latin typeface="Times New Roman" panose="02020603050405020304" pitchFamily="18" charset="0"/>
                <a:cs typeface="Times New Roman" panose="02020603050405020304" pitchFamily="18" charset="0"/>
              </a:rPr>
              <a:t>	      Employees from technical and life sciences backgrounds       		leave more frequently.</a:t>
            </a:r>
          </a:p>
          <a:p>
            <a:pPr marL="0" lvl="0" indent="0">
              <a:buNone/>
            </a:pPr>
            <a:endParaRPr lang="en-IN" sz="2400" b="1" dirty="0">
              <a:latin typeface="Times New Roman" panose="02020603050405020304" pitchFamily="18" charset="0"/>
              <a:cs typeface="Times New Roman" panose="02020603050405020304" pitchFamily="18" charset="0"/>
            </a:endParaRPr>
          </a:p>
          <a:p>
            <a:pPr marL="0" lvl="0" indent="0">
              <a:buNone/>
            </a:pPr>
            <a:r>
              <a:rPr lang="en-IN" sz="2400" b="1" dirty="0">
                <a:latin typeface="Times New Roman" panose="02020603050405020304" pitchFamily="18" charset="0"/>
                <a:cs typeface="Times New Roman" panose="02020603050405020304" pitchFamily="18" charset="0"/>
              </a:rPr>
              <a:t>	9)   Is attrition different across genders?</a:t>
            </a:r>
            <a:br>
              <a:rPr lang="en-IN" sz="2400" b="1" dirty="0">
                <a:latin typeface="Times New Roman" panose="02020603050405020304" pitchFamily="18" charset="0"/>
                <a:cs typeface="Times New Roman" panose="02020603050405020304" pitchFamily="18" charset="0"/>
              </a:rPr>
            </a:br>
            <a:r>
              <a:rPr lang="en-IN" sz="2400" b="1" dirty="0">
                <a:latin typeface="Times New Roman" panose="02020603050405020304" pitchFamily="18" charset="0"/>
                <a:cs typeface="Times New Roman" panose="02020603050405020304" pitchFamily="18" charset="0"/>
              </a:rPr>
              <a:t>	      Minor variations exist, but job role and salary have more  		      impact.</a:t>
            </a:r>
          </a:p>
          <a:p>
            <a:pPr marL="0" lvl="0" indent="0">
              <a:buNone/>
            </a:pPr>
            <a:r>
              <a:rPr lang="en-IN" sz="2400" b="1" dirty="0">
                <a:latin typeface="Times New Roman" panose="02020603050405020304" pitchFamily="18" charset="0"/>
                <a:cs typeface="Times New Roman" panose="02020603050405020304" pitchFamily="18" charset="0"/>
              </a:rPr>
              <a:t>      10)  How can attrition be reduced?</a:t>
            </a:r>
            <a:br>
              <a:rPr lang="en-IN" sz="2400" b="1" dirty="0">
                <a:latin typeface="Times New Roman" panose="02020603050405020304" pitchFamily="18" charset="0"/>
                <a:cs typeface="Times New Roman" panose="02020603050405020304" pitchFamily="18" charset="0"/>
              </a:rPr>
            </a:br>
            <a:r>
              <a:rPr lang="en-IN" sz="2400" b="1" dirty="0">
                <a:latin typeface="Times New Roman" panose="02020603050405020304" pitchFamily="18" charset="0"/>
                <a:cs typeface="Times New Roman" panose="02020603050405020304" pitchFamily="18" charset="0"/>
              </a:rPr>
              <a:t>	      By improving salary, career growth, employee 					      engagement,  and work  life balance.</a:t>
            </a:r>
          </a:p>
        </p:txBody>
      </p:sp>
    </p:spTree>
  </p:cSld>
  <p:clrMapOvr>
    <a:masterClrMapping/>
  </p:clrMapOvr>
  <mc:AlternateContent xmlns:mc="http://schemas.openxmlformats.org/markup-compatibility/2006" xmlns:p14="http://schemas.microsoft.com/office/powerpoint/2010/main">
    <mc:Choice Requires="p14">
      <p:transition spd="slow" p14:dur="1600" advTm="3000">
        <p14:prism isInverted="1"/>
      </p:transition>
    </mc:Choice>
    <mc:Fallback xmlns="">
      <p:transition spd="slow" advTm="3000">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89D5B83-7999-4956-BCB1-8E251456CE58}"/>
              </a:ext>
            </a:extLst>
          </p:cNvPr>
          <p:cNvSpPr/>
          <p:nvPr/>
        </p:nvSpPr>
        <p:spPr>
          <a:xfrm>
            <a:off x="215758" y="236307"/>
            <a:ext cx="8784404" cy="4720459"/>
          </a:xfrm>
          <a:prstGeom prst="rect">
            <a:avLst/>
          </a:prstGeom>
        </p:spPr>
        <p:txBody>
          <a:bodyPr wrap="square">
            <a:spAutoFit/>
          </a:bodyPr>
          <a:lstStyle/>
          <a:p>
            <a:pPr>
              <a:lnSpc>
                <a:spcPct val="107000"/>
              </a:lnSpc>
              <a:spcAft>
                <a:spcPts val="800"/>
              </a:spcAft>
            </a:pPr>
            <a:r>
              <a:rPr lang="en-IN" sz="3600" b="1" dirty="0">
                <a:latin typeface="Times New Roman" panose="02020603050405020304" pitchFamily="18" charset="0"/>
                <a:ea typeface="Times New Roman" panose="02020603050405020304" pitchFamily="18" charset="0"/>
                <a:cs typeface="Times New Roman" panose="02020603050405020304" pitchFamily="18" charset="0"/>
              </a:rPr>
              <a:t> </a:t>
            </a:r>
          </a:p>
          <a:p>
            <a:pPr>
              <a:lnSpc>
                <a:spcPct val="107000"/>
              </a:lnSpc>
              <a:spcAft>
                <a:spcPts val="800"/>
              </a:spcAft>
            </a:pPr>
            <a:r>
              <a:rPr lang="en-IN" sz="3600" b="1" dirty="0">
                <a:latin typeface="Times New Roman" panose="02020603050405020304" pitchFamily="18" charset="0"/>
                <a:ea typeface="Times New Roman" panose="02020603050405020304" pitchFamily="18" charset="0"/>
                <a:cs typeface="Times New Roman" panose="02020603050405020304" pitchFamily="18" charset="0"/>
              </a:rPr>
              <a:t>CONCLUSION</a:t>
            </a:r>
            <a:endParaRPr lang="en-IN" sz="1600" dirty="0">
              <a:latin typeface="Times New Roman" panose="02020603050405020304" pitchFamily="18" charset="0"/>
              <a:ea typeface="Calibri" panose="020F0502020204030204" pitchFamily="34" charset="0"/>
              <a:cs typeface="Times New Roman" panose="02020603050405020304" pitchFamily="18" charset="0"/>
            </a:endParaRPr>
          </a:p>
          <a:p>
            <a:pPr lvl="0">
              <a:lnSpc>
                <a:spcPct val="107000"/>
              </a:lnSpc>
              <a:spcAft>
                <a:spcPts val="800"/>
              </a:spcAft>
            </a:pPr>
            <a:endParaRPr lang="en-IN" sz="2400" b="1" dirty="0">
              <a:latin typeface="Times New Roman" panose="02020603050405020304" pitchFamily="18" charset="0"/>
              <a:ea typeface="Times New Roman" panose="02020603050405020304" pitchFamily="18" charset="0"/>
              <a:cs typeface="Times New Roman" panose="02020603050405020304" pitchFamily="18" charset="0"/>
            </a:endParaRPr>
          </a:p>
          <a:p>
            <a:pPr marL="800100" lvl="1" indent="-342900">
              <a:lnSpc>
                <a:spcPct val="107000"/>
              </a:lnSpc>
              <a:spcAft>
                <a:spcPts val="800"/>
              </a:spcAft>
              <a:buFont typeface="Wingdings" panose="05000000000000000000" pitchFamily="2" charset="2"/>
              <a:buChar char="v"/>
            </a:pPr>
            <a:r>
              <a:rPr lang="en-IN" sz="2400" b="1" dirty="0">
                <a:latin typeface="Times New Roman" panose="02020603050405020304" pitchFamily="18" charset="0"/>
                <a:ea typeface="Times New Roman" panose="02020603050405020304" pitchFamily="18" charset="0"/>
                <a:cs typeface="Times New Roman" panose="02020603050405020304" pitchFamily="18" charset="0"/>
              </a:rPr>
              <a:t>   The Employee Attrition Analysis highlights that attrition is influenced by age, salary, job role, years at company, and job satisfaction. Employees in early career stages and lower salary brackets are more likely to leave. Using Power BI dashboards enables organizations to monitor attrition trends effectively and take proactive steps to improve employee retention.</a:t>
            </a:r>
            <a:endParaRPr lang="en-IN" sz="2000" b="1"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slow" p14:dur="1200" advTm="3000">
        <p14:doors dir="vert"/>
      </p:transition>
    </mc:Choice>
    <mc:Fallback xmlns="">
      <p:transition spd="slow" advTm="3000">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3EDDC47-B7FE-45EA-A762-5D616FCE60E6}"/>
              </a:ext>
            </a:extLst>
          </p:cNvPr>
          <p:cNvSpPr>
            <a:spLocks noGrp="1"/>
          </p:cNvSpPr>
          <p:nvPr>
            <p:ph type="subTitle" idx="1"/>
          </p:nvPr>
        </p:nvSpPr>
        <p:spPr>
          <a:xfrm>
            <a:off x="832207" y="1676399"/>
            <a:ext cx="7130265" cy="3481227"/>
          </a:xfrm>
        </p:spPr>
        <p:txBody>
          <a:bodyPr>
            <a:normAutofit/>
          </a:bodyPr>
          <a:lstStyle/>
          <a:p>
            <a:endParaRPr lang="en-US" sz="6000" b="1" dirty="0">
              <a:solidFill>
                <a:schemeClr val="tx1"/>
              </a:solidFill>
              <a:latin typeface="Times New Roman" panose="02020603050405020304" pitchFamily="18" charset="0"/>
              <a:cs typeface="Times New Roman" panose="02020603050405020304" pitchFamily="18" charset="0"/>
            </a:endParaRPr>
          </a:p>
          <a:p>
            <a:r>
              <a:rPr lang="en-US" sz="6000" b="1" dirty="0">
                <a:solidFill>
                  <a:schemeClr val="tx1"/>
                </a:solidFill>
                <a:latin typeface="Times New Roman" panose="02020603050405020304" pitchFamily="18" charset="0"/>
                <a:cs typeface="Times New Roman" panose="02020603050405020304" pitchFamily="18" charset="0"/>
              </a:rPr>
              <a:t>Thank you</a:t>
            </a:r>
            <a:endParaRPr lang="en-IN" sz="6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1268674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287</TotalTime>
  <Words>563</Words>
  <Application>Microsoft Office PowerPoint</Application>
  <PresentationFormat>On-screen Show (4:3)</PresentationFormat>
  <Paragraphs>99</Paragraphs>
  <Slides>13</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Algerian</vt:lpstr>
      <vt:lpstr>Arial</vt:lpstr>
      <vt:lpstr>Arial Black</vt:lpstr>
      <vt:lpstr>Calibri</vt:lpstr>
      <vt:lpstr>Times New Roman</vt:lpstr>
      <vt:lpstr>Wingdings</vt:lpstr>
      <vt:lpstr>Office Theme</vt:lpstr>
      <vt:lpstr>PowerPoint Presentation</vt:lpstr>
      <vt:lpstr>Agenda</vt:lpstr>
      <vt:lpstr>PowerPoint Presentation</vt:lpstr>
      <vt:lpstr>     PROBALAM STATEMENT </vt:lpstr>
      <vt:lpstr>  DATASET OVERVIEW </vt:lpstr>
      <vt:lpstr>TECHNOLOGY USED &amp; DATA TRANSFORMATION STEPS</vt:lpstr>
      <vt:lpstr> DATA MODELING</vt:lpstr>
      <vt:lpstr>KPI SUMMARY</vt:lpstr>
      <vt:lpstr>  CHARTS USED IN THE DASHBOARD</vt:lpstr>
      <vt:lpstr>TEN PROBLEM STATEMENT QUESTIONS WITH EXPLANATIONS e Example</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Anudip</dc:creator>
  <dc:description>generated using python-pptx</dc:description>
  <cp:lastModifiedBy>Anudip</cp:lastModifiedBy>
  <cp:revision>34</cp:revision>
  <dcterms:created xsi:type="dcterms:W3CDTF">2013-01-27T09:14:00Z</dcterms:created>
  <dcterms:modified xsi:type="dcterms:W3CDTF">2026-01-27T09:48:10Z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4BC7BA5240D3401C9D173C6D47AF1884_13</vt:lpwstr>
  </property>
  <property fmtid="{D5CDD505-2E9C-101B-9397-08002B2CF9AE}" pid="3" name="KSOProductBuildVer">
    <vt:lpwstr>1033-12.2.0.23155</vt:lpwstr>
  </property>
</Properties>
</file>